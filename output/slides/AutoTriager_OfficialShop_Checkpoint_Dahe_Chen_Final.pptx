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9ea05f5d36470b" /><Relationship Type="http://schemas.openxmlformats.org/officeDocument/2006/relationships/extended-properties" Target="/docProps/app.xml" Id="R6864c9a0684246a1" /><Relationship Type="http://schemas.openxmlformats.org/officeDocument/2006/relationships/officeDocument" Target="/ppt/presentation.xml" Id="Rce2533a7a5b843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9246c289264be4"/>
  </p:sldMasterIdLst>
  <p:notesMasterIdLst>
    <p:notesMasterId xmlns:r="http://schemas.openxmlformats.org/officeDocument/2006/relationships" r:id="R4f0c4b1f0ef346fc"/>
  </p:notesMasterIdLst>
  <p:sldIdLst>
    <p:sldId xmlns:r="http://schemas.openxmlformats.org/officeDocument/2006/relationships" id="256" r:id="R724dc841ec0a4b9b"/>
    <p:sldId xmlns:r="http://schemas.openxmlformats.org/officeDocument/2006/relationships" id="257" r:id="R88c8756390014d63"/>
    <p:sldId xmlns:r="http://schemas.openxmlformats.org/officeDocument/2006/relationships" id="258" r:id="R1551421d1b994037"/>
    <p:sldId xmlns:r="http://schemas.openxmlformats.org/officeDocument/2006/relationships" id="259" r:id="R86780fa2dac7401b"/>
    <p:sldId xmlns:r="http://schemas.openxmlformats.org/officeDocument/2006/relationships" id="260" r:id="R70ddcfeb773346bd"/>
    <p:sldId xmlns:r="http://schemas.openxmlformats.org/officeDocument/2006/relationships" id="261" r:id="Rddadb987ca5e42bc"/>
    <p:sldId xmlns:r="http://schemas.openxmlformats.org/officeDocument/2006/relationships" id="262" r:id="R7fccb6fdc9ef41eb"/>
    <p:sldId xmlns:r="http://schemas.openxmlformats.org/officeDocument/2006/relationships" id="263" r:id="Rca2f60f6469b43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3e152081df40e4" /><Relationship Type="http://schemas.openxmlformats.org/officeDocument/2006/relationships/slideMaster" Target="/ppt/slideMasters/slideMaster1.xml" Id="R669246c289264be4" /><Relationship Type="http://schemas.openxmlformats.org/officeDocument/2006/relationships/notesMaster" Target="/ppt/notesMasters/notesMaster1.xml" Id="R4f0c4b1f0ef346fc" /><Relationship Type="http://schemas.openxmlformats.org/officeDocument/2006/relationships/presProps" Target="/ppt/presProps.xml" Id="R6c60483a7e6f4737" /><Relationship Type="http://schemas.openxmlformats.org/officeDocument/2006/relationships/tableStyles" Target="/ppt/tableStyles.xml" Id="R38b74d9e5fe042c3" /><Relationship Type="http://schemas.openxmlformats.org/officeDocument/2006/relationships/slide" Target="/ppt/slides/slide1.xml" Id="R724dc841ec0a4b9b" /><Relationship Type="http://schemas.openxmlformats.org/officeDocument/2006/relationships/slide" Target="/ppt/slides/slide2.xml" Id="R88c8756390014d63" /><Relationship Type="http://schemas.openxmlformats.org/officeDocument/2006/relationships/slide" Target="/ppt/slides/slide3.xml" Id="R1551421d1b994037" /><Relationship Type="http://schemas.openxmlformats.org/officeDocument/2006/relationships/slide" Target="/ppt/slides/slide4.xml" Id="R86780fa2dac7401b" /><Relationship Type="http://schemas.openxmlformats.org/officeDocument/2006/relationships/slide" Target="/ppt/slides/slide5.xml" Id="R70ddcfeb773346bd" /><Relationship Type="http://schemas.openxmlformats.org/officeDocument/2006/relationships/slide" Target="/ppt/slides/slide6.xml" Id="Rddadb987ca5e42bc" /><Relationship Type="http://schemas.openxmlformats.org/officeDocument/2006/relationships/slide" Target="/ppt/slides/slide7.xml" Id="R7fccb6fdc9ef41eb" /><Relationship Type="http://schemas.openxmlformats.org/officeDocument/2006/relationships/slide" Target="/ppt/slides/slide8.xml" Id="Rca2f60f6469b43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ba0ec5d91b48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2050e8db9a40a8" /><Relationship Type="http://schemas.openxmlformats.org/officeDocument/2006/relationships/notesMaster" Target="/ppt/notesMasters/notesMaster1.xml" Id="R49a06cc07d984f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3321bee51a43c3" /><Relationship Type="http://schemas.openxmlformats.org/officeDocument/2006/relationships/notesMaster" Target="/ppt/notesMasters/notesMaster1.xml" Id="R7f0b8d3893dd46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06892f422a5485a" /><Relationship Type="http://schemas.openxmlformats.org/officeDocument/2006/relationships/notesMaster" Target="/ppt/notesMasters/notesMaster1.xml" Id="R6f70a7511a6148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9fe6651c264692" /><Relationship Type="http://schemas.openxmlformats.org/officeDocument/2006/relationships/notesMaster" Target="/ppt/notesMasters/notesMaster1.xml" Id="R12d26c5d939f43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84fa455d2b4254" /><Relationship Type="http://schemas.openxmlformats.org/officeDocument/2006/relationships/notesMaster" Target="/ppt/notesMasters/notesMaster1.xml" Id="R18379a4d95db4f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fc95017e324b3c" /><Relationship Type="http://schemas.openxmlformats.org/officeDocument/2006/relationships/notesMaster" Target="/ppt/notesMasters/notesMaster1.xml" Id="R3871266f9df949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08ed89f35f401d" /><Relationship Type="http://schemas.openxmlformats.org/officeDocument/2006/relationships/notesMaster" Target="/ppt/notesMasters/notesMaster1.xml" Id="R2c21455f038c4e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93183b58424bff" /><Relationship Type="http://schemas.openxmlformats.org/officeDocument/2006/relationships/notesMaster" Target="/ppt/notesMasters/notesMaster1.xml" Id="Rc4ea4c623e9c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checkpoint, not a backdated September submission. Sources: docs/OFFICIAL_SHOP_WORKSHOP_DRAFT.md sections1,2; original Enhancement handout. Present the bounded feature and preserved failures without a novelty or user-benefit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Feedback paraphrases the user-provided teacher discussion, not a verbatim instructor quotation. Evidence: pinned official source, runtime receipts, nine examples, frozen comparison results, claim audit. The user requested the scenario reset despite the Enhancement default to improve existing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recorded official fault view: results/screenshots/official_case_app_20261001.jpg. The model returned payment on development002-b. This is saved response replay and does not make a new API call. App.py and ui.py implement scope/source/review. No real human rating is supplied. Local URL is not remotely accessible.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 checked in research/closest_work.md: OpenRCA ICLR2025 Section2.3, https://github.com/microsoft/OpenRCA and https://proceedings.iclr.cc/paper_files/paper/2025/file/d29b8d53678015079e1d245c023e49d2-Paper-Conference.pdf; EviRCA preprint https://arxiv.org/html/2609.19825v1 III-B/C,V-B, code https://github.com/yuhao541/EviRCA; MicroRCA-Agent competition report https://arxiv.org/html/2509.15635v1 3.5,4.1, code https://github.com/tangpan360/MicroRCA-Agent. No local closest-method reproduction or cross-paper score comparison. Dataset/source: https://github.com/open-telemetry/opentelemetry-demo/tree/dedc0178918e260823323b8d95005a8cb924b007 Apache2.0.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research/program.md, experiment_plan.json,A1/A2/A3 amendments,selected_method.json, results/official_research_round_20261001.json. Both conditions see same records/order within condition but direct asks initiating service whereas amended grounded asks inspection priority. Thus descriptive comparison only. Frozen run has48 cap, metric/span balancing, structural citations validator, no independent logs.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public aggregate results and scored confirmation003/005.2faultwindows and4controls in2dependentgroups. Raw/application same candidate outcomes. Directpayment2/2,groundedpayment1/2 checkout1/2. Rule reference uses fullpool and abstainsallconfirmation6 windows, input budget unmatched.30calls28completed2dev503.205778known total tokens for28 responses, two failures usageunknown. No significance/speed/SOTA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Real confirmation003-b screenshot results/screenshots/official_confirmation_counterexample_20261001.jpg. Candidatecheckout is a label nonmatch, not proof of a bad first inspection action. paymentERRORselectedspan7/8 were available but uncited. Grounded003-a reason sayszeroerroracrossservices despite selectedloadgenmetric19 positiveandERRORspan; actualclaim audit preserves this counterexample. Ninebundles are phasewindows onone mechanism, not9independentfaultcategories.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README, docs/PROJECT_PLAN, actual report and ninepublic examples. Course/currentimplemented bounded cycle complete except originalpre-AIworkflow unavailable, meaningfulactualhumanreview notyetrecorded. Newcomponent comparison is post-studyengineering, no additional modelclaims. C3 competing hypotheses and action-quality criteria; C4 missing/delayed signals; C5 integration. Do not advance merely by techadditions.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2d04c1eae47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ffc9a0da004af8" /><Relationship Type="http://schemas.openxmlformats.org/officeDocument/2006/relationships/slideLayout" Target="/ppt/slideLayouts/slideLayout1.xml" Id="Red6960b21bbd43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6960b21bbd43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ca4f610894c34" /><Relationship Type="http://schemas.openxmlformats.org/officeDocument/2006/relationships/notesSlide" Target="/ppt/notesSlides/notesSlide1.xml" Id="R035bd75cf46e4f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3e5a788184d71" /><Relationship Type="http://schemas.openxmlformats.org/officeDocument/2006/relationships/notesSlide" Target="/ppt/notesSlides/notesSlide2.xml" Id="R44cd4d9f57af4f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0223f24154764" /><Relationship Type="http://schemas.openxmlformats.org/officeDocument/2006/relationships/image" Target="/ppt/media/image.png" Id="R2f81b293d6cd423d" /><Relationship Type="http://schemas.openxmlformats.org/officeDocument/2006/relationships/notesSlide" Target="/ppt/notesSlides/notesSlide3.xml" Id="R121109ab33fd4a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e7813725b4f92" /><Relationship Type="http://schemas.openxmlformats.org/officeDocument/2006/relationships/notesSlide" Target="/ppt/notesSlides/notesSlide4.xml" Id="R8b1d95b6f57d4c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4d589a8e564285" /><Relationship Type="http://schemas.openxmlformats.org/officeDocument/2006/relationships/notesSlide" Target="/ppt/notesSlides/notesSlide5.xml" Id="Rd3f2da48767c49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3475c190645a4" /><Relationship Type="http://schemas.openxmlformats.org/officeDocument/2006/relationships/notesSlide" Target="/ppt/notesSlides/notesSlide6.xml" Id="R60e750b365b448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22878f58a4365" /><Relationship Type="http://schemas.openxmlformats.org/officeDocument/2006/relationships/image" Target="/ppt/media/image2.png" Id="R3db412d581dd471c" /><Relationship Type="http://schemas.openxmlformats.org/officeDocument/2006/relationships/notesSlide" Target="/ppt/notesSlides/notesSlide7.xml" Id="R70e27a7c163142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dc20bb64c4f3f" /><Relationship Type="http://schemas.openxmlformats.org/officeDocument/2006/relationships/notesSlide" Target="/ppt/notesSlides/notesSlide8.xml" Id="Rf6e13c4e127944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16FD8-FCA6-4084-8D0E-86D6EBF8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AutoTriager 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D0F7E-C60D-4296-8DEB-E04F8B9E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Dahe Chen  /  CS 5588  /  October 1, 2026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0D37B-385C-4F45-A075-56BB5C63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EE35A3-085E-443D-976E-A19D694B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Evidence-grounded incident investigation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8CBAA-24BA-4B74-B035-DDB913EC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Dahe Chen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43C3F-CA40-4E0B-9345-3D2F9923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6680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User: an on-call developer new to the shopping system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P1: load a captured checkout incident and inspect a checkable service suggestion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Question: can bounded evidence support an inspection priority while allowing deferral?</a:t>
            </a:r>
          </a:p>
        </p:txBody>
      </p:sp>
    </p:spTree>
    <p:extLst>
      <p:ext uri="{BB962C8B-B14F-4D97-AF65-F5344CB8AC3E}">
        <p14:creationId xmlns:p14="http://schemas.microsoft.com/office/powerpoint/2010/main" val="9807262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8E2415-60B1-4E20-9831-3043E460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Instructor feedback and design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F8DB5-3DC9-4A63-8290-CFCB43C9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Dahe Chen  /  CS 5588  /  October 1, 2026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D64F1-D579-4C67-8444-EF28071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143375"/>
                <a:gridCol w="4162425"/>
              </a:tblGrid>
              <a:tr h="73914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Feedback</a:t>
                      </a:r>
                    </a:p>
                  </a:txBody>
                  <a:tcPr marL="114300" marR="114300" marT="95250" marB="9525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Change</a:t>
                      </a:r>
                    </a:p>
                  </a:txBody>
                  <a:tcPr marL="114300" marR="114300" marT="95250" marB="9525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114300" marR="114300" marT="95250" marB="95250">
                    <a:solidFill>
                      <a:srgbClr val="EEEEEE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Who needs this?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Focus on a developer new to this system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Concrete checkout investigation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Use a real scenario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Run official Astronomy Shop locally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25 containers and captured telemetry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Evaluate the AI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Keep controls, direct reference and failures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30 calls, 28 responses, 2 errors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Make findings checkable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Retain IDs, values and trace relationships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Saved inputs and source inspection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D5A90-E57B-4D4F-A772-5E781D40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current study measures label agreement and evidence limits. User benefit remains unmeasured.</a:t>
            </a:r>
          </a:p>
        </p:txBody>
      </p:sp>
    </p:spTree>
    <p:extLst>
      <p:ext uri="{BB962C8B-B14F-4D97-AF65-F5344CB8AC3E}">
        <p14:creationId xmlns:p14="http://schemas.microsoft.com/office/powerpoint/2010/main" val="14436666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2A248-21D0-437F-B318-5B1625DC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Working investigation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64E10-6918-4FCF-951B-17ADE183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Dahe Chen  /  CS 5588  /  October 1, 2026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11459-807B-4398-8F59-D890C833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1b293d6cd423d"/>
          <a:stretch xmlns:a="http://schemas.openxmlformats.org/drawingml/2006/main"/>
        </p:blipFill>
        <p:spPr>
          <a:xfrm xmlns:a="http://schemas.openxmlformats.org/drawingml/2006/main">
            <a:off x="611188" y="1409700"/>
            <a:ext cx="680720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BEA2D-DF67-4E8E-A898-F5706D07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38300"/>
            <a:ext cx="3714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Select a captured interval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Inspect the suggested service and cited observations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Accept, reject or defer with a reason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DE8EE-95CD-4670-B3B2-60A0FF92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626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Local demo: http://127.0.0.1:8510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A0880-4C06-4773-BEF1-1E4F2CBD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Offline replay requires no API key. Live Gemini analysis requires explicit data-sharing consent.</a:t>
            </a:r>
          </a:p>
        </p:txBody>
      </p:sp>
    </p:spTree>
    <p:extLst>
      <p:ext uri="{BB962C8B-B14F-4D97-AF65-F5344CB8AC3E}">
        <p14:creationId xmlns:p14="http://schemas.microsoft.com/office/powerpoint/2010/main" val="12244109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35AC4-5EDC-494F-AD63-DCC40C26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Research context and reused ideas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AD2BA-4DB2-4E05-BCA0-405158C8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Dahe Chen  /  CS 5588  /  October 1, 2026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270CC-DC75-4402-8F22-CBEA3872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DD2AFF-3B2F-4494-B5A0-2512349C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85900"/>
            <a:ext cx="1089660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OpenRCA: public telemetry benchmark and RCA-Agent. Learn structured fault queries and evaluation boundaries.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EviRCA: deterministic extraction before read-only reasoning. Evidence cards are an existing method.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MicroRCA-Agent: structured diagnosis with documented invented call-chain evidence. Audit claim support separately.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Own study data: official Shop 3.1.0 captures. Benchmark scores do not validate this live scenario.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FAC3F-9BA4-40A3-B1F4-54C4AA9FD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github.com/microsoft/OpenRCA    github.com/yuhao541/EviRCA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4A37A-645E-4B97-B74C-42157AD8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github.com/tangpan360/MicroRCA-Agent    github.com/open-telemetry/opentelemetry-demo</a:t>
            </a:r>
          </a:p>
        </p:txBody>
      </p:sp>
    </p:spTree>
    <p:extLst>
      <p:ext uri="{BB962C8B-B14F-4D97-AF65-F5344CB8AC3E}">
        <p14:creationId xmlns:p14="http://schemas.microsoft.com/office/powerpoint/2010/main" val="238711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72B17-5C2F-408F-983D-6D95A95A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 and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FCA9B-4717-4FD8-BEC8-1C514B88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Dahe Chen  /  CS 5588  /  October 1, 2026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ADDBC-2902-4DFC-9EFF-3E241287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002AD-7BD2-4D19-882D-50C3273A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9660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Data: 9 phase windows, 8,379 observations, one injected payment-failure mechanism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Processing: preserve numerical values, IDs, UTC times and observed parent links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Model: Gemini 3.5 Flash-Lite, 48-record cap, temperature 0, no retries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References: direct prompt and transparent rule ranking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Measures: injected-service agreement, control deferral, claim support, tokens and latency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37C88-50EA-446A-957D-2D11935C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149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Direct asks for an initiating service. The amended method asks for an inspection priority.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7EF93-D66A-42F4-AC25-EC45ABB9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19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These questions prevent a same-task superiority claim.</a:t>
            </a:r>
          </a:p>
        </p:txBody>
      </p:sp>
    </p:spTree>
    <p:extLst>
      <p:ext uri="{BB962C8B-B14F-4D97-AF65-F5344CB8AC3E}">
        <p14:creationId xmlns:p14="http://schemas.microsoft.com/office/powerpoint/2010/main" val="9608727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25232-23E4-4F7A-B391-83CEBAEE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Frozen confirmation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725AC-658A-4644-B2D5-E0554A68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Dahe Chen  /  CS 5588  /  October 1, 2026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20187-BFD2-46EB-A520-7D43712C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2457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38625"/>
                <a:gridCol w="3305175"/>
                <a:gridCol w="3429000"/>
              </a:tblGrid>
              <a:tr h="61436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114300" marR="114300" marT="95250" marB="9525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Direct reference</a:t>
                      </a:r>
                    </a:p>
                  </a:txBody>
                  <a:tcPr marL="114300" marR="114300" marT="95250" marB="95250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Evidence-grounded</a:t>
                      </a:r>
                    </a:p>
                  </a:txBody>
                  <a:tcPr marL="114300" marR="114300" marT="95250" marB="95250">
                    <a:solidFill>
                      <a:srgbClr val="EEEEEE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Fault label agreement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2 / 2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1 / 2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Control deferral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 / 4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4 / 4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Other fault suggestion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None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</a:rPr>
                        <a:t>Checkout in group 003</a:t>
                      </a:r>
                    </a:p>
                  </a:txBody>
                  <a:tcPr marL="11430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1066B-746B-41C0-88DC-6025C503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066800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30 total calls: 28 completed and 2 development HTTP 503 failures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Capture yield: 10 accepted of 13 attempted phases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evidence of superiority, optimal first action or cross-fault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2035145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7B8790-FF18-4F9D-84E5-97A232E8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Testing and a retained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C69C9-6B94-4611-8537-BB52D1C7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Dahe Chen  /  CS 5588  /  October 1, 2026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310C3-433E-4AAD-93F1-4DE4B1BD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b412d581dd471c"/>
          <a:stretch xmlns:a="http://schemas.openxmlformats.org/drawingml/2006/main"/>
        </p:blipFill>
        <p:spPr>
          <a:xfrm xmlns:a="http://schemas.openxmlformats.org/drawingml/2006/main">
            <a:off x="612775" y="1409700"/>
            <a:ext cx="6756400" cy="38004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69CE2-5ACC-40A4-AAED-ADF2DD04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7338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9 recorded windows cover normal, injected fault and recovery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Group 003 suggests checkout although the intervention targets payment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0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normal-window explanation overlooks selected load-generator errors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26B6D-28F9-441A-A168-905A11A5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2927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 evidence IDs do not guarantee a faithful explanation. Preserve the negative case.</a:t>
            </a:r>
          </a:p>
        </p:txBody>
      </p:sp>
    </p:spTree>
    <p:extLst>
      <p:ext uri="{BB962C8B-B14F-4D97-AF65-F5344CB8AC3E}">
        <p14:creationId xmlns:p14="http://schemas.microsoft.com/office/powerpoint/2010/main" val="19261671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CF34E-86C1-4673-8AA2-E25F6C1B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 and next experiment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617BAB-0452-424E-954D-7B11984B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Dahe Chen  /  CS 5588  /  October 1, 2026 checkpoint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E047D-BF1F-43C1-8641-D885C9E8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0080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E8594-09CF-4A1D-9F7A-53038EAC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10896600" cy="3609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Available: local app, official captures, replay examples, evaluation code and English report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Remaining: observed human review and a matched investigation-task comparison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Challenge 3: compare competing service explanations with checkable evidence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Challenge 4: evaluate predefined missing or delayed telemetry</a:t>
            </a:r>
          </a:p>
          <a:p xmlns:a="http://schemas.openxmlformats.org/drawingml/2006/main">
            <a:pPr marL="228600" indent="-114300">
              <a:spcAft>
                <a:spcPts val="1600"/>
              </a:spcAft>
              <a:buChar char="•"/>
              <a:defRPr sz="21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Challenge 5: integrate verified features and prepare the live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E03C9-3E08-4186-BE1B-21803A42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7825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Application: http://127.0.0.1:8510  (local demonstration)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2BE4C-AE84-4E53-B1AF-D87D0C4A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9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Repository: https://github.com/chendahe666/AutoTriager-Shop</a:t>
            </a:r>
          </a:p>
        </p:txBody>
      </p:sp>
    </p:spTree>
    <p:extLst>
      <p:ext uri="{BB962C8B-B14F-4D97-AF65-F5344CB8AC3E}">
        <p14:creationId xmlns:p14="http://schemas.microsoft.com/office/powerpoint/2010/main" val="13647397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2026-10-01T20:28:19.6410000Z</dcterms:created>
  <dcterms:modified xsi:type="dcterms:W3CDTF">2026-10-01T20:28:19.6410000Z</dcterms:modified>
</coreProperties>
</file>
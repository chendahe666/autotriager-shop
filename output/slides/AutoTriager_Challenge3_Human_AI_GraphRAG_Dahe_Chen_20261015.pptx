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4a684d3e344244" /><Relationship Type="http://schemas.openxmlformats.org/officeDocument/2006/relationships/extended-properties" Target="/docProps/app.xml" Id="Rde9d3be3c2bc4b60" /><Relationship Type="http://schemas.openxmlformats.org/officeDocument/2006/relationships/officeDocument" Target="/ppt/presentation.xml" Id="R7d90c6a7bbfb42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7f2c3b82404ffa"/>
  </p:sldMasterIdLst>
  <p:notesMasterIdLst>
    <p:notesMasterId xmlns:r="http://schemas.openxmlformats.org/officeDocument/2006/relationships" r:id="R8807451ffe8b4851"/>
  </p:notesMasterIdLst>
  <p:sldIdLst>
    <p:sldId xmlns:r="http://schemas.openxmlformats.org/officeDocument/2006/relationships" id="256" r:id="R56881031bfcc443b"/>
    <p:sldId xmlns:r="http://schemas.openxmlformats.org/officeDocument/2006/relationships" id="257" r:id="Rab3dfccd8d464548"/>
    <p:sldId xmlns:r="http://schemas.openxmlformats.org/officeDocument/2006/relationships" id="258" r:id="Rc0c6bb6800044c83"/>
    <p:sldId xmlns:r="http://schemas.openxmlformats.org/officeDocument/2006/relationships" id="259" r:id="R12c888254a4e48ba"/>
    <p:sldId xmlns:r="http://schemas.openxmlformats.org/officeDocument/2006/relationships" id="260" r:id="Rcf25ce2284444bdb"/>
    <p:sldId xmlns:r="http://schemas.openxmlformats.org/officeDocument/2006/relationships" id="261" r:id="Rd59c952e0a7742a5"/>
    <p:sldId xmlns:r="http://schemas.openxmlformats.org/officeDocument/2006/relationships" id="262" r:id="Ra2bef78b138d45e6"/>
    <p:sldId xmlns:r="http://schemas.openxmlformats.org/officeDocument/2006/relationships" id="263" r:id="R03ddb3283c3841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f2289edb1e4f0a" /><Relationship Type="http://schemas.openxmlformats.org/officeDocument/2006/relationships/slideMaster" Target="/ppt/slideMasters/slideMaster1.xml" Id="R3d7f2c3b82404ffa" /><Relationship Type="http://schemas.openxmlformats.org/officeDocument/2006/relationships/notesMaster" Target="/ppt/notesMasters/notesMaster1.xml" Id="R8807451ffe8b4851" /><Relationship Type="http://schemas.openxmlformats.org/officeDocument/2006/relationships/presProps" Target="/ppt/presProps.xml" Id="Rf7b6c72208c84f0a" /><Relationship Type="http://schemas.openxmlformats.org/officeDocument/2006/relationships/tableStyles" Target="/ppt/tableStyles.xml" Id="R45c554c126a74322" /><Relationship Type="http://schemas.openxmlformats.org/officeDocument/2006/relationships/slide" Target="/ppt/slides/slide1.xml" Id="R56881031bfcc443b" /><Relationship Type="http://schemas.openxmlformats.org/officeDocument/2006/relationships/slide" Target="/ppt/slides/slide2.xml" Id="Rab3dfccd8d464548" /><Relationship Type="http://schemas.openxmlformats.org/officeDocument/2006/relationships/slide" Target="/ppt/slides/slide3.xml" Id="Rc0c6bb6800044c83" /><Relationship Type="http://schemas.openxmlformats.org/officeDocument/2006/relationships/slide" Target="/ppt/slides/slide4.xml" Id="R12c888254a4e48ba" /><Relationship Type="http://schemas.openxmlformats.org/officeDocument/2006/relationships/slide" Target="/ppt/slides/slide5.xml" Id="Rcf25ce2284444bdb" /><Relationship Type="http://schemas.openxmlformats.org/officeDocument/2006/relationships/slide" Target="/ppt/slides/slide6.xml" Id="Rd59c952e0a7742a5" /><Relationship Type="http://schemas.openxmlformats.org/officeDocument/2006/relationships/slide" Target="/ppt/slides/slide7.xml" Id="Ra2bef78b138d45e6" /><Relationship Type="http://schemas.openxmlformats.org/officeDocument/2006/relationships/slide" Target="/ppt/slides/slide8.xml" Id="R03ddb3283c3841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b35de8a4c44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81676c21c04aad" /><Relationship Type="http://schemas.openxmlformats.org/officeDocument/2006/relationships/notesMaster" Target="/ppt/notesMasters/notesMaster1.xml" Id="R4558d5dd0b1244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e0b85feb2e40d4" /><Relationship Type="http://schemas.openxmlformats.org/officeDocument/2006/relationships/notesMaster" Target="/ppt/notesMasters/notesMaster1.xml" Id="R3eb6415288b345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82f44f3e074c14" /><Relationship Type="http://schemas.openxmlformats.org/officeDocument/2006/relationships/notesMaster" Target="/ppt/notesMasters/notesMaster1.xml" Id="Ra3146049ac164a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5e78449aed4f61" /><Relationship Type="http://schemas.openxmlformats.org/officeDocument/2006/relationships/notesMaster" Target="/ppt/notesMasters/notesMaster1.xml" Id="Rbaa807e9baf849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f648f392044935" /><Relationship Type="http://schemas.openxmlformats.org/officeDocument/2006/relationships/notesMaster" Target="/ppt/notesMasters/notesMaster1.xml" Id="R27074899270243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6c2a5c498d44a7" /><Relationship Type="http://schemas.openxmlformats.org/officeDocument/2006/relationships/notesMaster" Target="/ppt/notesMasters/notesMaster1.xml" Id="R322b0654e2ad4e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ea14da4c21457b" /><Relationship Type="http://schemas.openxmlformats.org/officeDocument/2006/relationships/notesMaster" Target="/ppt/notesMasters/notesMaster1.xml" Id="Rc7b771a861e94d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8a06ccca514f00" /><Relationship Type="http://schemas.openxmlformats.org/officeDocument/2006/relationships/notesMaster" Target="/ppt/notesMasters/notesMaster1.xml" Id="R5c65d7460dff40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bb545e3b64f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4095cee4346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5da1783bc44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8d28699004c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aa5d8fe524d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8381f2f2946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5ABDBF-BE8C-4862-861D-4A0CAEF56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2ED5A1-C1C5-4F79-886E-0792563021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259322-F843-4853-9E35-6216CE68C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FD830F-708E-4A2B-8A1C-D495B25839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DE5FD4-9B91-46CC-A661-97B7C4FB74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79883E-B87A-473D-B9F7-060B2981D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88D8FA-CB6B-45FA-AB34-62C0DD4DFE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C95570-6834-484B-BDFE-CDA5D3DB74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4F0803-3968-43D1-9082-C3D569FB1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F63ED1-AF4C-437D-B0E7-C90F0AFD36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0b437abebd4be2" /><Relationship Type="http://schemas.openxmlformats.org/officeDocument/2006/relationships/slideLayout" Target="/ppt/slideLayouts/slideLayout1.xml" Id="Rd9e09f9495d64aad" /><Relationship Type="http://schemas.openxmlformats.org/officeDocument/2006/relationships/slideLayout" Target="/ppt/slideLayouts/slideLayout2.xml" Id="R6d5cec694d834d12" /><Relationship Type="http://schemas.openxmlformats.org/officeDocument/2006/relationships/slideLayout" Target="/ppt/slideLayouts/slideLayout3.xml" Id="R15b7cabd8c484925" /><Relationship Type="http://schemas.openxmlformats.org/officeDocument/2006/relationships/slideLayout" Target="/ppt/slideLayouts/slideLayout4.xml" Id="R22fc6f5e77ad46d8" /><Relationship Type="http://schemas.openxmlformats.org/officeDocument/2006/relationships/slideLayout" Target="/ppt/slideLayouts/slideLayout5.xml" Id="R02a095a9982c4101" /><Relationship Type="http://schemas.openxmlformats.org/officeDocument/2006/relationships/slideLayout" Target="/ppt/slideLayouts/slideLayout6.xml" Id="Rca4b464967f344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e09f9495d64aad"/>
    <p:sldLayoutId xmlns:r="http://schemas.openxmlformats.org/officeDocument/2006/relationships" id="2147483650" r:id="R6d5cec694d834d12"/>
    <p:sldLayoutId xmlns:r="http://schemas.openxmlformats.org/officeDocument/2006/relationships" id="2147483651" r:id="R15b7cabd8c484925"/>
    <p:sldLayoutId xmlns:r="http://schemas.openxmlformats.org/officeDocument/2006/relationships" id="2147483652" r:id="R22fc6f5e77ad46d8"/>
    <p:sldLayoutId xmlns:r="http://schemas.openxmlformats.org/officeDocument/2006/relationships" id="2147483653" r:id="R02a095a9982c4101"/>
    <p:sldLayoutId xmlns:r="http://schemas.openxmlformats.org/officeDocument/2006/relationships" id="2147483654" r:id="Rca4b464967f344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a1b87208e4f57" /><Relationship Type="http://schemas.openxmlformats.org/officeDocument/2006/relationships/image" Target="/ppt/media/image.jpeg" Id="Re75c688fc5944409" /><Relationship Type="http://schemas.openxmlformats.org/officeDocument/2006/relationships/hyperlink" Target="https://github.com/chendahe666/AutoTriager-Shop/blob/main/kg/README.md" TargetMode="External" Id="Ra12f14263c42462c" /><Relationship Type="http://schemas.openxmlformats.org/officeDocument/2006/relationships/notesSlide" Target="/ppt/notesSlides/notesSlide1.xml" Id="Ra9bdca6f68cb43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5b5d735b04a9b" /><Relationship Type="http://schemas.openxmlformats.org/officeDocument/2006/relationships/hyperlink" Target="https://opentelemetry.io/docs/specs/otel/trace/api/" TargetMode="External" Id="R75a3a7f5035340ff" /><Relationship Type="http://schemas.openxmlformats.org/officeDocument/2006/relationships/hyperlink" Target="https://www.w3.org/TR/2013/REC-prov-o-20130430/" TargetMode="External" Id="Re2f97e67f1524a7a" /><Relationship Type="http://schemas.openxmlformats.org/officeDocument/2006/relationships/hyperlink" Target="https://github.com/open-telemetry/opentelemetry-demo/blob/dedc0178918e260823323b8d95005a8cb924b007/pb/demo.proto" TargetMode="External" Id="Rf1be988d57354117" /><Relationship Type="http://schemas.openxmlformats.org/officeDocument/2006/relationships/notesSlide" Target="/ppt/notesSlides/notesSlide2.xml" Id="R37a2d5bdb9c749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0b93bdc6a4380" /><Relationship Type="http://schemas.openxmlformats.org/officeDocument/2006/relationships/hyperlink" Target="https://github.com/chendahe666/AutoTriager-Shop/blob/main/results/graphrag-coursework-20261015/human_evaluation.json" TargetMode="External" Id="R488df8539628480c" /><Relationship Type="http://schemas.openxmlformats.org/officeDocument/2006/relationships/notesSlide" Target="/ppt/notesSlides/notesSlide3.xml" Id="Rf2e4566e7cbc43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23e7e23ce44aa" /><Relationship Type="http://schemas.openxmlformats.org/officeDocument/2006/relationships/image" Target="/ppt/media/image2.jpeg" Id="R407293ea20d84216" /><Relationship Type="http://schemas.openxmlformats.org/officeDocument/2006/relationships/hyperlink" Target="https://github.com/open-telemetry/opentelemetry-demo/blob/dedc0178918e260823323b8d95005a8cb924b007/pb/demo.proto#L175-L195" TargetMode="External" Id="Rf57c7a16a1094f69" /><Relationship Type="http://schemas.openxmlformats.org/officeDocument/2006/relationships/hyperlink" Target="https://github.com/chendahe666/AutoTriager-Shop/blob/main/results/graphrag-coursework-20261015/THREE_QUERIES.md" TargetMode="External" Id="R007123f5d1434b40" /><Relationship Type="http://schemas.openxmlformats.org/officeDocument/2006/relationships/notesSlide" Target="/ppt/notesSlides/notesSlide4.xml" Id="R0ce10d66d0d346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0142d2f004d1b" /><Relationship Type="http://schemas.openxmlformats.org/officeDocument/2006/relationships/hyperlink" Target="https://github.com/chendahe666/AutoTriager-Shop/blob/main/results/graphrag-coursework-20261015/THREE_QUERIES.md#02-multi-hop-question" TargetMode="External" Id="Rda067fff69314112" /><Relationship Type="http://schemas.openxmlformats.org/officeDocument/2006/relationships/notesSlide" Target="/ppt/notesSlides/notesSlide5.xml" Id="Rca5dcfa5870640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a74935d8684545" /><Relationship Type="http://schemas.openxmlformats.org/officeDocument/2006/relationships/hyperlink" Target="https://github.com/open-telemetry/opentelemetry-demo/blob/dedc0178918e260823323b8d95005a8cb924b007/src/payment/index.js#L12-L31" TargetMode="External" Id="Rd123e6ce6aa546cc" /><Relationship Type="http://schemas.openxmlformats.org/officeDocument/2006/relationships/hyperlink" Target="https://github.com/chendahe666/AutoTriager-Shop/blob/main/results/graphrag-coursework-20261015/THREE_QUERIES.md" TargetMode="External" Id="R8ba77a05247746df" /><Relationship Type="http://schemas.openxmlformats.org/officeDocument/2006/relationships/notesSlide" Target="/ppt/notesSlides/notesSlide6.xml" Id="R1c325046aad84f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53add5bd84851" /><Relationship Type="http://schemas.openxmlformats.org/officeDocument/2006/relationships/hyperlink" Target="https://github.com/chendahe666/AutoTriager-Shop/blob/main/results/graphrag-coursework-20261015/independent_review.json" TargetMode="External" Id="R961bbfb6809e4573" /><Relationship Type="http://schemas.openxmlformats.org/officeDocument/2006/relationships/notesSlide" Target="/ppt/notesSlides/notesSlide7.xml" Id="R997ab461a14b48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99cae69f8942f0" /><Relationship Type="http://schemas.openxmlformats.org/officeDocument/2006/relationships/image" Target="/ppt/media/image3.jpeg" Id="R611c911ebeb64c1e" /><Relationship Type="http://schemas.openxmlformats.org/officeDocument/2006/relationships/hyperlink" Target="https://github.com/chendahe666/AutoTriager-Shop/blob/main/docs/CHALLENGE3_DELIVERY_20261015.md" TargetMode="External" Id="R87377b77d9fa4038" /><Relationship Type="http://schemas.openxmlformats.org/officeDocument/2006/relationships/hyperlink" Target="https://github.com/chendahe666/AutoTriager-Shop/blob/main/results/graphrag-coursework-20261015/THREE_QUERIES.md" TargetMode="External" Id="R59827091831947ae" /><Relationship Type="http://schemas.openxmlformats.org/officeDocument/2006/relationships/notesSlide" Target="/ppt/notesSlides/notesSlide8.xml" Id="R31f0315306cf4f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A1E352EB-4574-4814-B242-D00ED174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AutoTriager GraphRAG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AA4070-D678-4489-A232-DB3EF0B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Dahe Chen, CS 5588 Human-AI Co-Design, October 15, 2026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A6F4FBC-C81D-4072-8DE9-7CE83DE7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user-heading">
            <a:extLst xmlns:a="http://schemas.openxmlformats.org/drawingml/2006/main">
              <a:ext uri="{FF2B5EF4-FFF2-40B4-BE49-F238E27FC236}">
                <a16:creationId xmlns:a16="http://schemas.microsoft.com/office/drawing/2014/main" id="{D786C0ED-B68D-4E36-9805-4920A14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238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 engineer investigating checkout</a:t>
            </a:r>
          </a:p>
        </p:txBody>
      </p:sp>
      <p:sp>
        <p:nvSpPr>
          <p:cNvPr id="5" name="problem">
            <a:extLst xmlns:a="http://schemas.openxmlformats.org/drawingml/2006/main">
              <a:ext uri="{FF2B5EF4-FFF2-40B4-BE49-F238E27FC236}">
                <a16:creationId xmlns:a16="http://schemas.microsoft.com/office/drawing/2014/main" id="{562678F5-56C5-4AF0-99E4-8252EE12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2195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Errors appear across services. The engineer needs to connect observations with the interface and call-path knowledge that gives them meaning.</a:t>
            </a:r>
          </a:p>
        </p:txBody>
      </p:sp>
      <p:sp>
        <p:nvSpPr>
          <p:cNvPr id="6" name="scope">
            <a:extLst xmlns:a="http://schemas.openxmlformats.org/drawingml/2006/main">
              <a:ext uri="{FF2B5EF4-FFF2-40B4-BE49-F238E27FC236}">
                <a16:creationId xmlns:a16="http://schemas.microsoft.com/office/drawing/2014/main" id="{55EDED2D-50B2-4A08-A4DB-537C7580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73 nodes and 124 relationships</a:t>
            </a:r>
          </a:p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23 knowledge passages</a:t>
            </a:r>
          </a:p>
        </p:txBody>
      </p:sp>
      <p:sp>
        <p:nvSpPr>
          <p:cNvPr id="7" name="goal">
            <a:extLst xmlns:a="http://schemas.openxmlformats.org/drawingml/2006/main">
              <a:ext uri="{FF2B5EF4-FFF2-40B4-BE49-F238E27FC236}">
                <a16:creationId xmlns:a16="http://schemas.microsoft.com/office/drawing/2014/main" id="{81F2F3DE-0E0A-476E-B215-D8279083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Output: evidence for the next inspection.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FEDBA-2DA3-4A91-B6FC-CD295C8F48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c688fc5944409"/>
          <a:srcRect xmlns:a="http://schemas.openxmlformats.org/drawingml/2006/main" l="12821" t="12500" r="0" b="25800"/>
          <a:stretch xmlns:a="http://schemas.openxmlformats.org/drawingml/2006/main"/>
        </p:blipFill>
        <p:spPr>
          <a:xfrm xmlns:a="http://schemas.openxmlformats.org/drawingml/2006/main">
            <a:off x="5267325" y="1752600"/>
            <a:ext cx="6315075" cy="3676650"/>
          </a:xfrm>
          <a:prstGeom xmlns:a="http://schemas.openxmlformats.org/drawingml/2006/main" prst="rect">
            <a:avLst/>
          </a:prstGeom>
        </p:spPr>
      </p:pic>
      <p:sp>
        <p:nvSpPr>
          <p:cNvPr id="9" name="caption">
            <a:extLst xmlns:a="http://schemas.openxmlformats.org/drawingml/2006/main">
              <a:ext uri="{FF2B5EF4-FFF2-40B4-BE49-F238E27FC236}">
                <a16:creationId xmlns:a16="http://schemas.microsoft.com/office/drawing/2014/main" id="{96B900F5-C807-479C-B5AD-58275629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505450"/>
            <a:ext cx="6315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Actual Aura screenshot, October 13.</a:t>
            </a:r>
          </a:p>
          <a:p xmlns:a="http://schemas.openxmlformats.org/drawingml/2006/main">
            <a:pPr>
              <a:defRPr sz="15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The focused view shows 9 nodes and 10 links.</a:t>
            </a:r>
          </a:p>
          <a:p xmlns:a="http://schemas.openxmlformats.org/drawingml/2006/main">
            <a:pPr>
              <a:defRPr sz="1500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Whole-namespace counts verified October 15.</a:t>
            </a:r>
          </a:p>
        </p:txBody>
      </p:sp>
      <p:sp>
        <p:nvSpPr>
          <p:cNvPr id="10" name="source-link-8">
            <a:extLst xmlns:a="http://schemas.openxmlformats.org/drawingml/2006/main">
              <a:ext uri="{FF2B5EF4-FFF2-40B4-BE49-F238E27FC236}">
                <a16:creationId xmlns:a16="http://schemas.microsoft.com/office/drawing/2014/main" id="{64725471-E369-4297-BF01-F0C7D996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30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a12f14263c42462c"/>
              </a:rPr>
              <a:t>Project and source graph: github.com/chendahe666/AutoTriager-Shop</a:t>
            </a:r>
          </a:p>
        </p:txBody>
      </p:sp>
    </p:spTree>
    <p:extLst>
      <p:ext uri="{BB962C8B-B14F-4D97-AF65-F5344CB8AC3E}">
        <p14:creationId xmlns:p14="http://schemas.microsoft.com/office/powerpoint/2010/main" val="271427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867BE-17B3-45D0-9401-3060F10278F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753475" y="3057525"/>
            <a:ext cx="1704975" cy="1262063"/>
          </a:xfrm>
          <a:prstGeom xmlns:a="http://schemas.openxmlformats.org/drawingml/2006/main" prst="bentConnector5">
            <a:avLst>
              <a:gd name="adj1" fmla="val 0"/>
              <a:gd name="adj2" fmla="val 18113"/>
              <a:gd name="adj3" fmla="val 86592"/>
            </a:avLst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96417-3645-483E-83BB-34E4585D1CD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53475" y="253365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61FE5-345F-4D29-97D8-51EBC435E8B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48350" y="253365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B9BE9-8B69-45D5-9045-7CB14B088C7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43225" y="2533650"/>
            <a:ext cx="5810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11111"/>
            </a:solidFill>
            <a:tailEnd type="triangle" w="sm" len="sm"/>
          </a:ln>
        </p:spPr>
      </p:cxn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E1EF474A-5B6A-457E-AD22-C7993FAA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retrieval and answer generation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5D7E14-6B91-45EE-9F38-703FD024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Each question uses the same archived checkout incident and a bounded context packet.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E4818AC-089E-44F3-B114-4385803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incident">
            <a:extLst xmlns:a="http://schemas.openxmlformats.org/drawingml/2006/main">
              <a:ext uri="{FF2B5EF4-FFF2-40B4-BE49-F238E27FC236}">
                <a16:creationId xmlns:a16="http://schemas.microsoft.com/office/drawing/2014/main" id="{01551279-364E-4BDA-958E-55E80840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Question + incident</a:t>
            </a:r>
          </a:p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 and services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C7ED26E2-357F-48D8-AFBC-AF953AB2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9775"/>
            <a:ext cx="2324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Neo4j retrieval</a:t>
            </a:r>
          </a:p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Paths + passages</a:t>
            </a:r>
          </a:p>
        </p:txBody>
      </p:sp>
      <p:sp>
        <p:nvSpPr>
          <p:cNvPr id="6" name="packet">
            <a:extLst xmlns:a="http://schemas.openxmlformats.org/drawingml/2006/main">
              <a:ext uri="{FF2B5EF4-FFF2-40B4-BE49-F238E27FC236}">
                <a16:creationId xmlns:a16="http://schemas.microsoft.com/office/drawing/2014/main" id="{B9D8BFB3-1722-4623-AB31-13AB3530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2324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packet</a:t>
            </a:r>
          </a:p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IDs + source limits</a:t>
            </a:r>
          </a:p>
        </p:txBody>
      </p:sp>
      <p:sp>
        <p:nvSpPr>
          <p:cNvPr id="7" name="generation">
            <a:extLst xmlns:a="http://schemas.openxmlformats.org/drawingml/2006/main">
              <a:ext uri="{FF2B5EF4-FFF2-40B4-BE49-F238E27FC236}">
                <a16:creationId xmlns:a16="http://schemas.microsoft.com/office/drawing/2014/main" id="{4943E976-1C80-46ED-861D-9548BA0A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9775"/>
            <a:ext cx="2247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</a:t>
            </a:r>
          </a:p>
          <a:p xmlns:a="http://schemas.openxmlformats.org/drawingml/2006/main">
            <a:pPr algn="ctr">
              <a:defRPr sz="19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11111"/>
                </a:solidFill>
                <a:latin typeface="Arial"/>
                <a:ea typeface="Arial"/>
                <a:cs typeface="Arial"/>
              </a:rPr>
              <a:t>Cited claims</a:t>
            </a:r>
          </a:p>
        </p:txBody>
      </p:sp>
      <p:sp>
        <p:nvSpPr>
          <p:cNvPr id="11" name="review">
            <a:extLst xmlns:a="http://schemas.openxmlformats.org/drawingml/2006/main">
              <a:ext uri="{FF2B5EF4-FFF2-40B4-BE49-F238E27FC236}">
                <a16:creationId xmlns:a16="http://schemas.microsoft.com/office/drawing/2014/main" id="{DA935298-1D47-496C-A945-436CE872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00475"/>
            <a:ext cx="52292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</a:ln>
        </p:spPr>
        <p:txBody>
          <a:bodyPr xmlns:a="http://schemas.openxmlformats.org/drawingml/2006/main" lIns="95250" tIns="76200" rIns="95250" bIns="762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 validation and separate claim review</a:t>
            </a:r>
          </a:p>
          <a:p xmlns:a="http://schemas.openxmlformats.org/drawingml/2006/main">
            <a:pPr algn="ctr">
              <a:defRPr sz="20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 evaluation remains pending</a:t>
            </a:r>
          </a:p>
        </p:txBody>
      </p:sp>
      <p:sp>
        <p:nvSpPr>
          <p:cNvPr id="13" name="packet-size">
            <a:extLst xmlns:a="http://schemas.openxmlformats.org/drawingml/2006/main">
              <a:ext uri="{FF2B5EF4-FFF2-40B4-BE49-F238E27FC236}">
                <a16:creationId xmlns:a16="http://schemas.microsoft.com/office/drawing/2014/main" id="{92D7460C-798C-4C24-A88C-5CDE34AF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Each v2 packet: 48 local observations, 10 Aura passages, 3 static relations.</a:t>
            </a:r>
          </a:p>
        </p:txBody>
      </p:sp>
      <p:sp>
        <p:nvSpPr>
          <p:cNvPr id="14" name="method">
            <a:extLst xmlns:a="http://schemas.openxmlformats.org/drawingml/2006/main">
              <a:ext uri="{FF2B5EF4-FFF2-40B4-BE49-F238E27FC236}">
                <a16:creationId xmlns:a16="http://schemas.microsoft.com/office/drawing/2014/main" id="{54B2F252-2B7D-406E-91F2-D6C5E7D7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Entity matching, bounded graph traversal and lexical ranking. No training or embeddings.</a:t>
            </a:r>
          </a:p>
        </p:txBody>
      </p:sp>
      <p:sp>
        <p:nvSpPr>
          <p:cNvPr id="15" name="source-link-14">
            <a:extLst xmlns:a="http://schemas.openxmlformats.org/drawingml/2006/main">
              <a:ext uri="{FF2B5EF4-FFF2-40B4-BE49-F238E27FC236}">
                <a16:creationId xmlns:a16="http://schemas.microsoft.com/office/drawing/2014/main" id="{6CB87B5E-A6C9-4384-A74B-BA4FF8CC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75a3a7f5035340ff"/>
              </a:rPr>
              <a:t>Primary grounding: OpenTelemetry</a:t>
            </a:r>
          </a:p>
        </p:txBody>
      </p:sp>
      <p:sp>
        <p:nvSpPr>
          <p:cNvPr id="16" name="source-link-15">
            <a:extLst xmlns:a="http://schemas.openxmlformats.org/drawingml/2006/main">
              <a:ext uri="{FF2B5EF4-FFF2-40B4-BE49-F238E27FC236}">
                <a16:creationId xmlns:a16="http://schemas.microsoft.com/office/drawing/2014/main" id="{7CB7B30D-6168-44B7-88BA-3075CA88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1982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e2f97e67f1524a7a"/>
              </a:rPr>
              <a:t>W3C PROV-O</a:t>
            </a:r>
          </a:p>
        </p:txBody>
      </p:sp>
      <p:sp>
        <p:nvSpPr>
          <p:cNvPr id="17" name="source-link-16">
            <a:extLst xmlns:a="http://schemas.openxmlformats.org/drawingml/2006/main">
              <a:ext uri="{FF2B5EF4-FFF2-40B4-BE49-F238E27FC236}">
                <a16:creationId xmlns:a16="http://schemas.microsoft.com/office/drawing/2014/main" id="{55D05245-D491-4355-9E5F-4046CB5C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219825"/>
            <a:ext cx="3762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f1be988d57354117"/>
              </a:rPr>
              <a:t>Pinned Shop source: dedc017</a:t>
            </a:r>
          </a:p>
        </p:txBody>
      </p:sp>
    </p:spTree>
    <p:extLst>
      <p:ext uri="{BB962C8B-B14F-4D97-AF65-F5344CB8AC3E}">
        <p14:creationId xmlns:p14="http://schemas.microsoft.com/office/powerpoint/2010/main" val="1140405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BAB4609-667D-478C-BFDC-C20FDD9C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Human-AI co-design and the review boundary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206F5D-1AB9-4AB8-85B5-6BBCAE39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A real student decision changed the response policy. Correctness judgments remain deferred.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6383785-BB66-42B7-8E3A-0480A0B5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4BDAE-E9BE-4FA6-8CC2-E93A2AEB7048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504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Recorded interaction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AI review finding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 payment database check assumed an undocumented dependency.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Student decision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First confirm whether payment has a database. Check its connection only if it exists.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The prompt requires existence-first verification before a conditional dependency check.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eferred-title">
            <a:extLst xmlns:a="http://schemas.openxmlformats.org/drawingml/2006/main">
              <a:ext uri="{FF2B5EF4-FFF2-40B4-BE49-F238E27FC236}">
                <a16:creationId xmlns:a16="http://schemas.microsoft.com/office/drawing/2014/main" id="{D8AAC239-E100-4D08-81D2-41138DE8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 answer evaluation: pending</a:t>
            </a:r>
          </a:p>
        </p:txBody>
      </p:sp>
      <p:sp>
        <p:nvSpPr>
          <p:cNvPr id="6" name="deferred">
            <a:extLst xmlns:a="http://schemas.openxmlformats.org/drawingml/2006/main">
              <a:ext uri="{FF2B5EF4-FFF2-40B4-BE49-F238E27FC236}">
                <a16:creationId xmlns:a16="http://schemas.microsoft.com/office/drawing/2014/main" id="{0A2CD6C7-AA6A-4587-B612-A0923E90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student requested a domain explanation rather than giving an uncertain assessment.</a:t>
            </a:r>
          </a:p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policy decision does not approve any complete model answer.</a:t>
            </a:r>
          </a:p>
        </p:txBody>
      </p:sp>
      <p:sp>
        <p:nvSpPr>
          <p:cNvPr id="7" name="source-link-5">
            <a:extLst xmlns:a="http://schemas.openxmlformats.org/drawingml/2006/main">
              <a:ext uri="{FF2B5EF4-FFF2-40B4-BE49-F238E27FC236}">
                <a16:creationId xmlns:a16="http://schemas.microsoft.com/office/drawing/2014/main" id="{F6B39F07-A71C-4CDF-A331-9949C5CF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306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488df8539628480c"/>
              </a:rPr>
              <a:t>Actual student reply and boundary: human_evaluation.json</a:t>
            </a:r>
          </a:p>
        </p:txBody>
      </p:sp>
    </p:spTree>
    <p:extLst>
      <p:ext uri="{BB962C8B-B14F-4D97-AF65-F5344CB8AC3E}">
        <p14:creationId xmlns:p14="http://schemas.microsoft.com/office/powerpoint/2010/main" val="18217506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951C975F-C4DF-4AEA-AD82-69CE81B3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Basic question: the payment interface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9A1AAB-F139-4290-B0F2-17D2ACA5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Question, shortened: What enters Charge, what returns, and does the contract prove success?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702B3CF-1CDA-451B-A81D-85CDD6F3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vidence-head">
            <a:extLst xmlns:a="http://schemas.openxmlformats.org/drawingml/2006/main">
              <a:ext uri="{FF2B5EF4-FFF2-40B4-BE49-F238E27FC236}">
                <a16:creationId xmlns:a16="http://schemas.microsoft.com/office/drawing/2014/main" id="{C1E923E4-CE2B-4EBD-9116-D8D4E95C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518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Retrieved passage, summary</a:t>
            </a:r>
          </a:p>
        </p:txBody>
      </p:sp>
      <p:sp>
        <p:nvSpPr>
          <p:cNvPr id="5" name="contract">
            <a:extLst xmlns:a="http://schemas.openxmlformats.org/drawingml/2006/main">
              <a:ext uri="{FF2B5EF4-FFF2-40B4-BE49-F238E27FC236}">
                <a16:creationId xmlns:a16="http://schemas.microsoft.com/office/drawing/2014/main" id="{99A7E22E-B940-4D01-9504-2417311B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1244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PaymentService exposes Charge.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Request: Money + CreditCardInfo</a:t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Response: transaction_id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Success requires incident evidence.</a:t>
            </a:r>
          </a:p>
        </p:txBody>
      </p:sp>
      <p:sp>
        <p:nvSpPr>
          <p:cNvPr id="6" name="answer-heading">
            <a:extLst xmlns:a="http://schemas.openxmlformats.org/drawingml/2006/main">
              <a:ext uri="{FF2B5EF4-FFF2-40B4-BE49-F238E27FC236}">
                <a16:creationId xmlns:a16="http://schemas.microsoft.com/office/drawing/2014/main" id="{BE610215-FEB0-4C8B-937E-5FF1576F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18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Saved model answer, excerpt</a:t>
            </a:r>
          </a:p>
        </p:txBody>
      </p:sp>
      <p:sp>
        <p:nvSpPr>
          <p:cNvPr id="7" name="answer-excerpt">
            <a:extLst xmlns:a="http://schemas.openxmlformats.org/drawingml/2006/main">
              <a:ext uri="{FF2B5EF4-FFF2-40B4-BE49-F238E27FC236}">
                <a16:creationId xmlns:a16="http://schemas.microsoft.com/office/drawing/2014/main" id="{5B7F3D52-3348-449B-979E-B0294F58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191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“The declared PaymentService interface describes message shape, but this interface alone does not prove that any request succeeded.”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6A3F0-3827-4742-BA95-1CCAF60507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293ea20d84216"/>
          <a:stretch xmlns:a="http://schemas.openxmlformats.org/drawingml/2006/main"/>
        </p:blipFill>
        <p:spPr>
          <a:xfrm xmlns:a="http://schemas.openxmlformats.org/drawingml/2006/main">
            <a:off x="6219825" y="1991286"/>
            <a:ext cx="5362575" cy="3018303"/>
          </a:xfrm>
          <a:prstGeom xmlns:a="http://schemas.openxmlformats.org/drawingml/2006/main" prst="rect">
            <a:avLst/>
          </a:prstGeom>
        </p:spPr>
      </p:pic>
      <p:sp>
        <p:nvSpPr>
          <p:cNvPr id="9" name="basic-receipt">
            <a:extLst xmlns:a="http://schemas.openxmlformats.org/drawingml/2006/main">
              <a:ext uri="{FF2B5EF4-FFF2-40B4-BE49-F238E27FC236}">
                <a16:creationId xmlns:a16="http://schemas.microsoft.com/office/drawing/2014/main" id="{9E97B27B-3853-47AA-850D-F7837423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343525"/>
            <a:ext cx="53625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Saved execution replay, October 15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Fresh model call: 5.474 s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 review: 3 claims pass. Student: deferred.</a:t>
            </a:r>
          </a:p>
        </p:txBody>
      </p:sp>
      <p:sp>
        <p:nvSpPr>
          <p:cNvPr id="10" name="source-link-8">
            <a:extLst xmlns:a="http://schemas.openxmlformats.org/drawingml/2006/main">
              <a:ext uri="{FF2B5EF4-FFF2-40B4-BE49-F238E27FC236}">
                <a16:creationId xmlns:a16="http://schemas.microsoft.com/office/drawing/2014/main" id="{8223482C-11EE-4FBF-AB91-59B36449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514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f57c7a16a1094f69"/>
              </a:rPr>
              <a:t>Source: pb/demo.proto, lines 175–195</a:t>
            </a:r>
          </a:p>
        </p:txBody>
      </p:sp>
      <p:sp>
        <p:nvSpPr>
          <p:cNvPr id="11" name="source-link-9">
            <a:extLst xmlns:a="http://schemas.openxmlformats.org/drawingml/2006/main">
              <a:ext uri="{FF2B5EF4-FFF2-40B4-BE49-F238E27FC236}">
                <a16:creationId xmlns:a16="http://schemas.microsoft.com/office/drawing/2014/main" id="{B44F3B4B-4668-41FA-89C5-F1E6DA26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62293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007123f5d1434b40"/>
              </a:rPr>
              <a:t>Full prompt, original response and evidence</a:t>
            </a:r>
          </a:p>
        </p:txBody>
      </p:sp>
    </p:spTree>
    <p:extLst>
      <p:ext uri="{BB962C8B-B14F-4D97-AF65-F5344CB8AC3E}">
        <p14:creationId xmlns:p14="http://schemas.microsoft.com/office/powerpoint/2010/main" val="1131528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A83D54AE-1999-4B04-A59E-C7FA76DF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Multi-hop question: the observed pathway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A31902-01B3-43AD-AD53-FF354BC9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Question, shortened: Which services and operations connect frontend, checkout and payment?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7D8D9ED-F44B-435D-A3BE-FCDA2CF5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query-label">
            <a:extLst xmlns:a="http://schemas.openxmlformats.org/drawingml/2006/main">
              <a:ext uri="{FF2B5EF4-FFF2-40B4-BE49-F238E27FC236}">
                <a16:creationId xmlns:a16="http://schemas.microsoft.com/office/drawing/2014/main" id="{82579B24-FDBC-466E-BCB6-9A0D8A46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Executed Cypher, abridged</a:t>
            </a:r>
          </a:p>
        </p:txBody>
      </p:sp>
      <p:sp>
        <p:nvSpPr>
          <p:cNvPr id="5" name="cypher-excerpt">
            <a:extLst xmlns:a="http://schemas.openxmlformats.org/drawingml/2006/main">
              <a:ext uri="{FF2B5EF4-FFF2-40B4-BE49-F238E27FC236}">
                <a16:creationId xmlns:a16="http://schemas.microsoft.com/office/drawing/2014/main" id="{9D5DD33D-A64B-4438-A9F8-687F10BD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4292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MATCH (i:Incident)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-[:HAS_OBSERVATION]-&gt;(o:Observation)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-[:EMITTED_BY]-&gt;(s:Service)</a:t>
            </a:r>
          </a:p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RETURN i.id,o.id,s.name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ED15-00A7-4BA9-96C4-1C092DF323AA}"/>
              </a:ext>
            </a:extLst>
          </p:cNvPr>
          <p:cNvGraphicFramePr/>
          <p:nvPr/>
        </p:nvGraphicFramePr>
        <p:xfrm>
          <a:off xmlns:a="http://schemas.openxmlformats.org/drawingml/2006/main" x="609600" y="3619500"/>
          <a:ext xmlns:a="http://schemas.openxmlformats.org/drawingml/2006/main" cx="542925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1809750"/>
              </a:tblGrid>
              <a:tr h="5048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Query observation ID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obs-archive-span-00005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checkout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obs-archive-span-00006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checkout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1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obs-archive-span-00007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payment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query-limit">
            <a:extLst xmlns:a="http://schemas.openxmlformats.org/drawingml/2006/main">
              <a:ext uri="{FF2B5EF4-FFF2-40B4-BE49-F238E27FC236}">
                <a16:creationId xmlns:a16="http://schemas.microsoft.com/office/drawing/2014/main" id="{0C615C1A-4722-4EC4-B5AD-0E310CA4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5429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of 5 rows shown. Separate query, not LLM input.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Namespace filters omitted. Full query linked.</a:t>
            </a:r>
          </a:p>
        </p:txBody>
      </p:sp>
      <p:sp>
        <p:nvSpPr>
          <p:cNvPr id="8" name="saved-heading">
            <a:extLst xmlns:a="http://schemas.openxmlformats.org/drawingml/2006/main">
              <a:ext uri="{FF2B5EF4-FFF2-40B4-BE49-F238E27FC236}">
                <a16:creationId xmlns:a16="http://schemas.microsoft.com/office/drawing/2014/main" id="{2C1CB216-990A-4C7B-BEA7-FC9CD43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5057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Saved model answer, excerpt</a:t>
            </a:r>
          </a:p>
        </p:txBody>
      </p:sp>
      <p:sp>
        <p:nvSpPr>
          <p:cNvPr id="9" name="saved-excerpt">
            <a:extLst xmlns:a="http://schemas.openxmlformats.org/drawingml/2006/main">
              <a:ext uri="{FF2B5EF4-FFF2-40B4-BE49-F238E27FC236}">
                <a16:creationId xmlns:a16="http://schemas.microsoft.com/office/drawing/2014/main" id="{32446813-304B-4FB8-B25D-D7962059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50577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“The checkout service emits server-side oteldemo.CheckoutService/PlaceOrder and client-side oteldemo.PaymentService/Charge spans with status ERROR.”</a:t>
            </a:r>
          </a:p>
        </p:txBody>
      </p:sp>
      <p:sp>
        <p:nvSpPr>
          <p:cNvPr id="10" name="review-heading">
            <a:extLst xmlns:a="http://schemas.openxmlformats.org/drawingml/2006/main">
              <a:ext uri="{FF2B5EF4-FFF2-40B4-BE49-F238E27FC236}">
                <a16:creationId xmlns:a16="http://schemas.microsoft.com/office/drawing/2014/main" id="{449AA86D-1124-47D0-B5B2-48F5564F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95775"/>
            <a:ext cx="5057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Independent AI review</a:t>
            </a:r>
          </a:p>
        </p:txBody>
      </p:sp>
      <p:sp>
        <p:nvSpPr>
          <p:cNvPr id="11" name="partial">
            <a:extLst xmlns:a="http://schemas.openxmlformats.org/drawingml/2006/main">
              <a:ext uri="{FF2B5EF4-FFF2-40B4-BE49-F238E27FC236}">
                <a16:creationId xmlns:a16="http://schemas.microsoft.com/office/drawing/2014/main" id="{95860BD4-81A3-4266-B22A-53D608DF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10125"/>
            <a:ext cx="50577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claims pass, 1 is partial.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answer omits all 4 parent links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both static conditions.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Frontend-call citation needs support.</a:t>
            </a:r>
          </a:p>
        </p:txBody>
      </p:sp>
      <p:sp>
        <p:nvSpPr>
          <p:cNvPr id="12" name="source-link-10">
            <a:extLst xmlns:a="http://schemas.openxmlformats.org/drawingml/2006/main">
              <a:ext uri="{FF2B5EF4-FFF2-40B4-BE49-F238E27FC236}">
                <a16:creationId xmlns:a16="http://schemas.microsoft.com/office/drawing/2014/main" id="{BEC0C13F-68EC-4874-B308-2499F9D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76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da067fff69314112"/>
              </a:rPr>
              <a:t>Saved query, context and unchanged answer (5.878 s model call)</a:t>
            </a:r>
          </a:p>
        </p:txBody>
      </p:sp>
    </p:spTree>
    <p:extLst>
      <p:ext uri="{BB962C8B-B14F-4D97-AF65-F5344CB8AC3E}">
        <p14:creationId xmlns:p14="http://schemas.microsoft.com/office/powerpoint/2010/main" val="613814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46DDFE9F-FFC1-427D-A39E-EBE5479D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question: why inspect payment?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74C3F6-260D-4838-BB69-275F7078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The evidence can motivate investigation while the initiating cause remains unresolved.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907DFD2-B74C-4B96-BCE6-F5DFF39B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observed-head">
            <a:extLst xmlns:a="http://schemas.openxmlformats.org/drawingml/2006/main">
              <a:ext uri="{FF2B5EF4-FFF2-40B4-BE49-F238E27FC236}">
                <a16:creationId xmlns:a16="http://schemas.microsoft.com/office/drawing/2014/main" id="{AF90280E-A6BC-4E65-96D5-AD0BEABF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2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the packet supports</a:t>
            </a:r>
          </a:p>
        </p:txBody>
      </p:sp>
      <p:sp>
        <p:nvSpPr>
          <p:cNvPr id="5" name="bullets-4">
            <a:extLst xmlns:a="http://schemas.openxmlformats.org/drawingml/2006/main">
              <a:ext uri="{FF2B5EF4-FFF2-40B4-BE49-F238E27FC236}">
                <a16:creationId xmlns:a16="http://schemas.microsoft.com/office/drawing/2014/main" id="{F64A2274-B9E7-44A0-A618-539D20D9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52197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 span-00007 records a payment server Charge span with ERROR.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 The source handler records a caught error and returns it through the RPC callback.</a:t>
            </a:r>
          </a:p>
          <a:p xmlns:a="http://schemas.openxmlformats.org/drawingml/2006/main">
            <a:pPr marL="228600" indent="-114300">
              <a:spcAft>
                <a:spcPts val="15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 Deployed-source equality and the internal exception remain unknown.</a:t>
            </a:r>
          </a:p>
        </p:txBody>
      </p:sp>
      <p:sp>
        <p:nvSpPr>
          <p:cNvPr id="6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A54D4C42-227B-4374-9C1B-DDDB2BDF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12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Saved next check, excerpt</a:t>
            </a:r>
          </a:p>
        </p:txBody>
      </p:sp>
      <p:sp>
        <p:nvSpPr>
          <p:cNvPr id="7" name="next-excerpt">
            <a:extLst xmlns:a="http://schemas.openxmlformats.org/drawingml/2006/main">
              <a:ext uri="{FF2B5EF4-FFF2-40B4-BE49-F238E27FC236}">
                <a16:creationId xmlns:a16="http://schemas.microsoft.com/office/drawing/2014/main" id="{BE942CAD-02C7-4CF4-ADE0-C642989C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“Verify whether the payment service has any external database or third-party dependencies…”</a:t>
            </a:r>
          </a:p>
        </p:txBody>
      </p:sp>
      <p:sp>
        <p:nvSpPr>
          <p:cNvPr id="8" name="review-head">
            <a:extLst xmlns:a="http://schemas.openxmlformats.org/drawingml/2006/main">
              <a:ext uri="{FF2B5EF4-FFF2-40B4-BE49-F238E27FC236}">
                <a16:creationId xmlns:a16="http://schemas.microsoft.com/office/drawing/2014/main" id="{BB0935C3-44EF-4954-8BAC-C038A258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Independent review objections</a:t>
            </a:r>
          </a:p>
        </p:txBody>
      </p:sp>
      <p:sp>
        <p:nvSpPr>
          <p:cNvPr id="9" name="bad-quote">
            <a:extLst xmlns:a="http://schemas.openxmlformats.org/drawingml/2006/main">
              <a:ext uri="{FF2B5EF4-FFF2-40B4-BE49-F238E27FC236}">
                <a16:creationId xmlns:a16="http://schemas.microsoft.com/office/drawing/2014/main" id="{7DA6410F-8C33-401C-9744-47ABC0D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5238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claim, excerpt:</a:t>
            </a:r>
          </a:p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“…across multiple traces…”</a:t>
            </a:r>
          </a:p>
          <a:p xmlns:a="http://schemas.openxmlformats.org/drawingml/2006/main">
            <a:pPr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Citation: span-00007 only</a:t>
            </a:r>
          </a:p>
        </p:txBody>
      </p:sp>
      <p:sp>
        <p:nvSpPr>
          <p:cNvPr id="10" name="objection">
            <a:extLst xmlns:a="http://schemas.openxmlformats.org/drawingml/2006/main">
              <a:ext uri="{FF2B5EF4-FFF2-40B4-BE49-F238E27FC236}">
                <a16:creationId xmlns:a16="http://schemas.microsoft.com/office/drawing/2014/main" id="{1D216E36-420B-46EC-B67A-C131FE8A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24275"/>
            <a:ext cx="5238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cited span cannot establish multiple traces. The candidate failure explanation also exceeds what aggregate error rates support.</a:t>
            </a:r>
          </a:p>
        </p:txBody>
      </p:sp>
      <p:sp>
        <p:nvSpPr>
          <p:cNvPr id="11" name="research-status">
            <a:extLst xmlns:a="http://schemas.openxmlformats.org/drawingml/2006/main">
              <a:ext uri="{FF2B5EF4-FFF2-40B4-BE49-F238E27FC236}">
                <a16:creationId xmlns:a16="http://schemas.microsoft.com/office/drawing/2014/main" id="{E68763E5-D4B3-4C60-A6CA-3BDA2EBF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483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review: 2 pass, 2 partial</a:t>
            </a:r>
          </a:p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Fresh model call: 5.943 s</a:t>
            </a:r>
          </a:p>
        </p:txBody>
      </p:sp>
      <p:sp>
        <p:nvSpPr>
          <p:cNvPr id="12" name="source-link-11">
            <a:extLst xmlns:a="http://schemas.openxmlformats.org/drawingml/2006/main">
              <a:ext uri="{FF2B5EF4-FFF2-40B4-BE49-F238E27FC236}">
                <a16:creationId xmlns:a16="http://schemas.microsoft.com/office/drawing/2014/main" id="{C4BDF9D8-3EB5-4ECE-A907-328680CC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521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d123e6ce6aa546cc"/>
              </a:rPr>
              <a:t>Source: payment/index.js, lines 12–31</a:t>
            </a:r>
          </a:p>
        </p:txBody>
      </p:sp>
      <p:sp>
        <p:nvSpPr>
          <p:cNvPr id="13" name="source-link-12">
            <a:extLst xmlns:a="http://schemas.openxmlformats.org/drawingml/2006/main">
              <a:ext uri="{FF2B5EF4-FFF2-40B4-BE49-F238E27FC236}">
                <a16:creationId xmlns:a16="http://schemas.microsoft.com/office/drawing/2014/main" id="{13F13CBB-74B2-4791-901C-37D65893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248400"/>
            <a:ext cx="523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8ba77a05247746df"/>
              </a:rPr>
              <a:t>Original research answer and review</a:t>
            </a:r>
          </a:p>
        </p:txBody>
      </p:sp>
    </p:spTree>
    <p:extLst>
      <p:ext uri="{BB962C8B-B14F-4D97-AF65-F5344CB8AC3E}">
        <p14:creationId xmlns:p14="http://schemas.microsoft.com/office/powerpoint/2010/main" val="14475052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B78BED2-5930-488F-B3D2-A2113624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Observed results and remaining gaps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55B7B8-0D32-40F0-ACFB-939A49AD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Three fresh responses concern one previously inspected incident.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8358978-9B88-44E3-B725-189D289B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2696B-5D38-484E-971A-94851FCC9568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2543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809875"/>
                <a:gridCol w="2143125"/>
                <a:gridCol w="3686175"/>
              </a:tblGrid>
              <a:tr h="504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Required knowledge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Model latency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AI claim review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T w="5715">
                      <a:solidFill>
                        <a:srgbClr val="999999"/>
                      </a:solidFill>
                      <a:prstDash val="solid"/>
                    </a:lnT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Basic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 / 1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5.474 s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 pass, 0 partial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Multi-hop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 / 3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5.878 s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 pass, 1 partial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Research</a:t>
                      </a:r>
                    </a:p>
                  </a:txBody>
                  <a:tcPr marL="114300" marR="114300" marT="76200" marB="76200">
                    <a:lnL w="5715">
                      <a:solidFill>
                        <a:srgbClr val="999999"/>
                      </a:solidFill>
                      <a:prstDash val="solid"/>
                    </a:lnL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 / 2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5.943 s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 pass, 2 partial</a:t>
                      </a:r>
                    </a:p>
                  </a:txBody>
                  <a:tcPr marL="114300" marR="114300" marT="76200" marB="76200">
                    <a:lnR w="5715">
                      <a:solidFill>
                        <a:srgbClr val="999999"/>
                      </a:solidFill>
                      <a:prstDash val="solid"/>
                    </a:lnR>
                    <a:lnB w="5715">
                      <a:solidFill>
                        <a:srgbClr val="9999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ferences">
            <a:extLst xmlns:a="http://schemas.openxmlformats.org/drawingml/2006/main">
              <a:ext uri="{FF2B5EF4-FFF2-40B4-BE49-F238E27FC236}">
                <a16:creationId xmlns:a16="http://schemas.microsoft.com/office/drawing/2014/main" id="{F8A6EB01-D3BD-4679-B2C0-402C2FE6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601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18 / 18 citation occurrences resolve</a:t>
            </a:r>
          </a:p>
          <a:p xmlns:a="http://schemas.openxmlformats.org/drawingml/2006/main">
            <a:pPr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8 / 11 claims pass AI support review</a:t>
            </a:r>
          </a:p>
        </p:txBody>
      </p:sp>
      <p:sp>
        <p:nvSpPr>
          <p:cNvPr id="6" name="partial-count">
            <a:extLst xmlns:a="http://schemas.openxmlformats.org/drawingml/2006/main">
              <a:ext uri="{FF2B5EF4-FFF2-40B4-BE49-F238E27FC236}">
                <a16:creationId xmlns:a16="http://schemas.microsoft.com/office/drawing/2014/main" id="{2C05E6DE-5C7D-4758-A709-E63E60C3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24400"/>
            <a:ext cx="4743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claims remain partially supported.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Student judgments: all pending or deferred.</a:t>
            </a:r>
          </a:p>
        </p:txBody>
      </p:sp>
      <p:sp>
        <p:nvSpPr>
          <p:cNvPr id="7" name="development">
            <a:extLst xmlns:a="http://schemas.openxmlformats.org/drawingml/2006/main">
              <a:ext uri="{FF2B5EF4-FFF2-40B4-BE49-F238E27FC236}">
                <a16:creationId xmlns:a16="http://schemas.microsoft.com/office/drawing/2014/main" id="{16A88FCF-8B3D-4F51-970F-9400098D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Development repair: multi-hop required passage retrieval changed from 1/3 to 3/3.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rerun on a known question does not measure diagnostic improvement.</a:t>
            </a:r>
          </a:p>
        </p:txBody>
      </p:sp>
      <p:sp>
        <p:nvSpPr>
          <p:cNvPr id="8" name="source-link-6">
            <a:extLst xmlns:a="http://schemas.openxmlformats.org/drawingml/2006/main">
              <a:ext uri="{FF2B5EF4-FFF2-40B4-BE49-F238E27FC236}">
                <a16:creationId xmlns:a16="http://schemas.microsoft.com/office/drawing/2014/main" id="{66272780-2835-4209-A366-B88BE115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76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961bbfb6809e4573"/>
              </a:rPr>
              <a:t>Independent simulated review, objections and unchanged raw results</a:t>
            </a:r>
          </a:p>
        </p:txBody>
      </p:sp>
    </p:spTree>
    <p:extLst>
      <p:ext uri="{BB962C8B-B14F-4D97-AF65-F5344CB8AC3E}">
        <p14:creationId xmlns:p14="http://schemas.microsoft.com/office/powerpoint/2010/main" val="884333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532FDC6A-BA6C-462C-850F-B7AA654A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Reproducibility and reflection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27B96B-AB81-405B-8E12-1D58BB52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The repository preserves exact questions, retrieved packets, original answers and review records.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4078BCD-6F28-47AB-892D-C1291611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what-records">
            <a:extLst xmlns:a="http://schemas.openxmlformats.org/drawingml/2006/main">
              <a:ext uri="{FF2B5EF4-FFF2-40B4-BE49-F238E27FC236}">
                <a16:creationId xmlns:a16="http://schemas.microsoft.com/office/drawing/2014/main" id="{951056C7-5E25-4BD2-8A16-895A2BFC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another reader can inspect</a:t>
            </a:r>
          </a:p>
        </p:txBody>
      </p:sp>
      <p:sp>
        <p:nvSpPr>
          <p:cNvPr id="5" name="bullets-4">
            <a:extLst xmlns:a="http://schemas.openxmlformats.org/drawingml/2006/main">
              <a:ext uri="{FF2B5EF4-FFF2-40B4-BE49-F238E27FC236}">
                <a16:creationId xmlns:a16="http://schemas.microsoft.com/office/drawing/2014/main" id="{B5B1F4F5-BA2B-47E7-9083-8AEEFAEB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52578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 Source versions, observation IDs and executed graph query rows.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 Original responses and separate objections, without rewriting model output.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11111"/>
                </a:solidFill>
                <a:latin typeface="Arial"/>
                <a:ea typeface="Arial"/>
                <a:cs typeface="Arial"/>
              </a:rPr>
              <a:t> Python and React, Neo4j Aura, and Gemini 3.5 Flash-Lite.</a:t>
            </a:r>
          </a:p>
        </p:txBody>
      </p:sp>
      <p:sp>
        <p:nvSpPr>
          <p:cNvPr id="6" name="reflection-head">
            <a:extLst xmlns:a="http://schemas.openxmlformats.org/drawingml/2006/main">
              <a:ext uri="{FF2B5EF4-FFF2-40B4-BE49-F238E27FC236}">
                <a16:creationId xmlns:a16="http://schemas.microsoft.com/office/drawing/2014/main" id="{A4B377E7-6CA2-49B5-A91E-1A2E0EAD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7" name="reflection">
            <a:extLst xmlns:a="http://schemas.openxmlformats.org/drawingml/2006/main">
              <a:ext uri="{FF2B5EF4-FFF2-40B4-BE49-F238E27FC236}">
                <a16:creationId xmlns:a16="http://schemas.microsoft.com/office/drawing/2014/main" id="{C3DE2BDE-94DE-47EB-9A89-CE600168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5286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Human review needs domain understanding.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next step is guided evidence reading,</a:t>
            </a:r>
          </a:p>
          <a:p xmlns:a="http://schemas.openxmlformats.org/drawingml/2006/main">
            <a:pPr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then an actual student assessment.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64FF5-46ED-41AB-87EE-0B014D3F39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c911ebeb64c1e"/>
          <a:srcRect xmlns:a="http://schemas.openxmlformats.org/drawingml/2006/main" l="20000" t="34500" r="31500" b="16000"/>
          <a:stretch xmlns:a="http://schemas.openxmlformats.org/drawingml/2006/main"/>
        </p:blipFill>
        <p:spPr>
          <a:xfrm xmlns:a="http://schemas.openxmlformats.org/drawingml/2006/main">
            <a:off x="6267450" y="1952625"/>
            <a:ext cx="5314950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screen-caption">
            <a:extLst xmlns:a="http://schemas.openxmlformats.org/drawingml/2006/main">
              <a:ext uri="{FF2B5EF4-FFF2-40B4-BE49-F238E27FC236}">
                <a16:creationId xmlns:a16="http://schemas.microsoft.com/office/drawing/2014/main" id="{3C286630-8B40-4AD1-A8E4-DEFA2C3F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81625"/>
            <a:ext cx="53149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Actual workbench retrieval, October 15.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Packet: 48 observations, 10 passages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3 relations. No new model call.</a:t>
            </a:r>
          </a:p>
        </p:txBody>
      </p:sp>
      <p:sp>
        <p:nvSpPr>
          <p:cNvPr id="10" name="source-link-8">
            <a:extLst xmlns:a="http://schemas.openxmlformats.org/drawingml/2006/main">
              <a:ext uri="{FF2B5EF4-FFF2-40B4-BE49-F238E27FC236}">
                <a16:creationId xmlns:a16="http://schemas.microsoft.com/office/drawing/2014/main" id="{4BAC713F-3E0C-4BF8-8582-0484F6BD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87377b77d9fa4038"/>
              </a:rPr>
              <a:t>Code and reproduction guide</a:t>
            </a:r>
          </a:p>
        </p:txBody>
      </p:sp>
      <p:sp>
        <p:nvSpPr>
          <p:cNvPr id="11" name="source-link-9">
            <a:extLst xmlns:a="http://schemas.openxmlformats.org/drawingml/2006/main">
              <a:ext uri="{FF2B5EF4-FFF2-40B4-BE49-F238E27FC236}">
                <a16:creationId xmlns:a16="http://schemas.microsoft.com/office/drawing/2014/main" id="{8A2C26AD-E1ED-4F83-A59C-2737E677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353175"/>
            <a:ext cx="5314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B4B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B4B4B"/>
                </a:solidFill>
                <a:latin typeface="Arial"/>
                <a:ea typeface="Arial"/>
                <a:cs typeface="Arial"/>
                <a:hlinkClick xmlns:r="http://schemas.openxmlformats.org/officeDocument/2006/relationships" r:id="R59827091831947ae"/>
              </a:rPr>
              <a:t>Full questions, evidence and review report</a:t>
            </a:r>
          </a:p>
        </p:txBody>
      </p:sp>
    </p:spTree>
    <p:extLst>
      <p:ext uri="{BB962C8B-B14F-4D97-AF65-F5344CB8AC3E}">
        <p14:creationId xmlns:p14="http://schemas.microsoft.com/office/powerpoint/2010/main" val="1727285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2026-10-15T06:25:56.6770000Z</dcterms:created>
  <dcterms:modified xsi:type="dcterms:W3CDTF">2026-10-15T06:25:56.6770000Z</dcterms:modified>
</coreProperties>
</file>
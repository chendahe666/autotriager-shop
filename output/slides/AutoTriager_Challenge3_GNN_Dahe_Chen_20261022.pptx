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26c8fe46934fbe" /><Relationship Type="http://schemas.openxmlformats.org/officeDocument/2006/relationships/extended-properties" Target="/docProps/app.xml" Id="Re413dc2de9ee4354" /><Relationship Type="http://schemas.openxmlformats.org/officeDocument/2006/relationships/officeDocument" Target="/ppt/presentation.xml" Id="R8d56571abb00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c569b1725743b4"/>
  </p:sldMasterIdLst>
  <p:notesMasterIdLst>
    <p:notesMasterId xmlns:r="http://schemas.openxmlformats.org/officeDocument/2006/relationships" r:id="R3cb405a3ce144f5b"/>
  </p:notesMasterIdLst>
  <p:sldIdLst>
    <p:sldId xmlns:r="http://schemas.openxmlformats.org/officeDocument/2006/relationships" id="256" r:id="R3d467f6c14f44081"/>
    <p:sldId xmlns:r="http://schemas.openxmlformats.org/officeDocument/2006/relationships" id="257" r:id="R7ab53e5e3ec84e94"/>
    <p:sldId xmlns:r="http://schemas.openxmlformats.org/officeDocument/2006/relationships" id="258" r:id="R303581519a5641a1"/>
    <p:sldId xmlns:r="http://schemas.openxmlformats.org/officeDocument/2006/relationships" id="259" r:id="Rbfd297aa78eb4f5f"/>
    <p:sldId xmlns:r="http://schemas.openxmlformats.org/officeDocument/2006/relationships" id="260" r:id="Rdd9c56230c8f48f8"/>
    <p:sldId xmlns:r="http://schemas.openxmlformats.org/officeDocument/2006/relationships" id="261" r:id="Rf7b8685a2f004dfc"/>
    <p:sldId xmlns:r="http://schemas.openxmlformats.org/officeDocument/2006/relationships" id="262" r:id="Re447f9cd061948f4"/>
    <p:sldId xmlns:r="http://schemas.openxmlformats.org/officeDocument/2006/relationships" id="263" r:id="Rfd524982092846e2"/>
    <p:sldId xmlns:r="http://schemas.openxmlformats.org/officeDocument/2006/relationships" id="264" r:id="Rdbc038d253f042da"/>
    <p:sldId xmlns:r="http://schemas.openxmlformats.org/officeDocument/2006/relationships" id="265" r:id="Rd56e3672db8a4b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3a12409c584353" /><Relationship Type="http://schemas.openxmlformats.org/officeDocument/2006/relationships/slideMaster" Target="/ppt/slideMasters/slideMaster1.xml" Id="Rcdc569b1725743b4" /><Relationship Type="http://schemas.openxmlformats.org/officeDocument/2006/relationships/notesMaster" Target="/ppt/notesMasters/notesMaster1.xml" Id="R3cb405a3ce144f5b" /><Relationship Type="http://schemas.openxmlformats.org/officeDocument/2006/relationships/presProps" Target="/ppt/presProps.xml" Id="Rf07e69f71dc74517" /><Relationship Type="http://schemas.openxmlformats.org/officeDocument/2006/relationships/tableStyles" Target="/ppt/tableStyles.xml" Id="R84c85ccbcc8a448d" /><Relationship Type="http://schemas.openxmlformats.org/officeDocument/2006/relationships/slide" Target="/ppt/slides/slide1.xml" Id="R3d467f6c14f44081" /><Relationship Type="http://schemas.openxmlformats.org/officeDocument/2006/relationships/slide" Target="/ppt/slides/slide2.xml" Id="R7ab53e5e3ec84e94" /><Relationship Type="http://schemas.openxmlformats.org/officeDocument/2006/relationships/slide" Target="/ppt/slides/slide3.xml" Id="R303581519a5641a1" /><Relationship Type="http://schemas.openxmlformats.org/officeDocument/2006/relationships/slide" Target="/ppt/slides/slide4.xml" Id="Rbfd297aa78eb4f5f" /><Relationship Type="http://schemas.openxmlformats.org/officeDocument/2006/relationships/slide" Target="/ppt/slides/slide5.xml" Id="Rdd9c56230c8f48f8" /><Relationship Type="http://schemas.openxmlformats.org/officeDocument/2006/relationships/slide" Target="/ppt/slides/slide6.xml" Id="Rf7b8685a2f004dfc" /><Relationship Type="http://schemas.openxmlformats.org/officeDocument/2006/relationships/slide" Target="/ppt/slides/slide7.xml" Id="Re447f9cd061948f4" /><Relationship Type="http://schemas.openxmlformats.org/officeDocument/2006/relationships/slide" Target="/ppt/slides/slide8.xml" Id="Rfd524982092846e2" /><Relationship Type="http://schemas.openxmlformats.org/officeDocument/2006/relationships/slide" Target="/ppt/slides/slide9.xml" Id="Rdbc038d253f042da" /><Relationship Type="http://schemas.openxmlformats.org/officeDocument/2006/relationships/slide" Target="/ppt/slides/slide10.xml" Id="Rd56e3672db8a4b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49a2d853e04f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orkshop Monochrome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111111"/>
      </a:accent1>
      <a:accent2>
        <a:srgbClr val="333333"/>
      </a:accent2>
      <a:accent3>
        <a:srgbClr val="555555"/>
      </a:accent3>
      <a:accent4>
        <a:srgbClr val="777777"/>
      </a:accent4>
      <a:accent5>
        <a:srgbClr val="999999"/>
      </a:accent5>
      <a:accent6>
        <a:srgbClr val="BBBBBB"/>
      </a:accent6>
      <a:hlink>
        <a:srgbClr val="4B4B4B"/>
      </a:hlink>
      <a:folHlink>
        <a:srgbClr val="4B4B4B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orkshop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06f820586343bd" /><Relationship Type="http://schemas.openxmlformats.org/officeDocument/2006/relationships/notesMaster" Target="/ppt/notesMasters/notesMaster1.xml" Id="Rbcb2a2400528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64cf9b061041a3" /><Relationship Type="http://schemas.openxmlformats.org/officeDocument/2006/relationships/notesMaster" Target="/ppt/notesMasters/notesMaster1.xml" Id="Reb81c1cac21748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b2590b2b6b44ca" /><Relationship Type="http://schemas.openxmlformats.org/officeDocument/2006/relationships/notesMaster" Target="/ppt/notesMasters/notesMaster1.xml" Id="R177733472bd142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b3d7a486494b5f" /><Relationship Type="http://schemas.openxmlformats.org/officeDocument/2006/relationships/notesMaster" Target="/ppt/notesMasters/notesMaster1.xml" Id="Rb9b8b528ea9140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a6bd96de742b1" /><Relationship Type="http://schemas.openxmlformats.org/officeDocument/2006/relationships/notesMaster" Target="/ppt/notesMasters/notesMaster1.xml" Id="R1d90cf8cd99e40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80e9ad23864cd9" /><Relationship Type="http://schemas.openxmlformats.org/officeDocument/2006/relationships/notesMaster" Target="/ppt/notesMasters/notesMaster1.xml" Id="Rc3455910ec1941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b7e0c572854dcc" /><Relationship Type="http://schemas.openxmlformats.org/officeDocument/2006/relationships/notesMaster" Target="/ppt/notesMasters/notesMaster1.xml" Id="R82919dd89ca746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2fbf3d262e4c32" /><Relationship Type="http://schemas.openxmlformats.org/officeDocument/2006/relationships/notesMaster" Target="/ppt/notesMasters/notesMaster1.xml" Id="Rfeaeeec9faff4c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030a0ca38f4a54" /><Relationship Type="http://schemas.openxmlformats.org/officeDocument/2006/relationships/notesMaster" Target="/ppt/notesMasters/notesMaster1.xml" Id="R2d5112c360bb4a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87b1f33f06453c" /><Relationship Type="http://schemas.openxmlformats.org/officeDocument/2006/relationships/notesMaster" Target="/ppt/notesMasters/notesMaster1.xml" Id="Rd6db52f8c67244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d5735c85a4b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6edfcb3ac45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6489a363340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052a500a841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97d89febc45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7ca55b61247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108A5C-9683-4B06-9336-D527A4127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2057AF-272B-4686-9543-5BE6B92DF4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7CAEAA-7568-4701-A854-4C874D9777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EB9D5F-506E-4DE9-B4D4-6C1EDE48CE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5DF1D1-BA8A-4BAF-AFE7-832FAB40E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8713EF-EEAB-44C1-9F6B-C388738CF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DE7E13-DCC2-4654-8F54-8F3E979288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64EBDA-A08D-46E7-AB44-D1BEA192C9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B1F73A-0109-496D-9068-762FD8E841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0C6A1C-87DB-49F6-8EAE-8C8A78142D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12251474f43f5" /><Relationship Type="http://schemas.openxmlformats.org/officeDocument/2006/relationships/slideLayout" Target="/ppt/slideLayouts/slideLayout1.xml" Id="R4b638777b9234641" /><Relationship Type="http://schemas.openxmlformats.org/officeDocument/2006/relationships/slideLayout" Target="/ppt/slideLayouts/slideLayout2.xml" Id="R4b56c4cc1e3c45db" /><Relationship Type="http://schemas.openxmlformats.org/officeDocument/2006/relationships/slideLayout" Target="/ppt/slideLayouts/slideLayout3.xml" Id="R0089823336784a63" /><Relationship Type="http://schemas.openxmlformats.org/officeDocument/2006/relationships/slideLayout" Target="/ppt/slideLayouts/slideLayout4.xml" Id="R5900dac983244d81" /><Relationship Type="http://schemas.openxmlformats.org/officeDocument/2006/relationships/slideLayout" Target="/ppt/slideLayouts/slideLayout5.xml" Id="Re70ae35f93ea41f2" /><Relationship Type="http://schemas.openxmlformats.org/officeDocument/2006/relationships/slideLayout" Target="/ppt/slideLayouts/slideLayout6.xml" Id="R87cbbdc745d64a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38777b9234641"/>
    <p:sldLayoutId xmlns:r="http://schemas.openxmlformats.org/officeDocument/2006/relationships" id="2147483650" r:id="R4b56c4cc1e3c45db"/>
    <p:sldLayoutId xmlns:r="http://schemas.openxmlformats.org/officeDocument/2006/relationships" id="2147483651" r:id="R0089823336784a63"/>
    <p:sldLayoutId xmlns:r="http://schemas.openxmlformats.org/officeDocument/2006/relationships" id="2147483652" r:id="R5900dac983244d81"/>
    <p:sldLayoutId xmlns:r="http://schemas.openxmlformats.org/officeDocument/2006/relationships" id="2147483653" r:id="Re70ae35f93ea41f2"/>
    <p:sldLayoutId xmlns:r="http://schemas.openxmlformats.org/officeDocument/2006/relationships" id="2147483654" r:id="R87cbbdc745d64a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Workshop Monochrome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111111"/>
      </a:accent1>
      <a:accent2>
        <a:srgbClr val="333333"/>
      </a:accent2>
      <a:accent3>
        <a:srgbClr val="555555"/>
      </a:accent3>
      <a:accent4>
        <a:srgbClr val="777777"/>
      </a:accent4>
      <a:accent5>
        <a:srgbClr val="999999"/>
      </a:accent5>
      <a:accent6>
        <a:srgbClr val="BBBBBB"/>
      </a:accent6>
      <a:hlink>
        <a:srgbClr val="4B4B4B"/>
      </a:hlink>
      <a:folHlink>
        <a:srgbClr val="4B4B4B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orkshop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30900906b4fff" /><Relationship Type="http://schemas.openxmlformats.org/officeDocument/2006/relationships/image" Target="/ppt/media/image.jpeg" Id="R1ccc529a80c94389" /><Relationship Type="http://schemas.openxmlformats.org/officeDocument/2006/relationships/hyperlink" Target="https://github.com/chendahe666/AutoTriager-Shop/blob/main/README.md" TargetMode="External" Id="R1baae2a120e94f3a" /><Relationship Type="http://schemas.openxmlformats.org/officeDocument/2006/relationships/notesSlide" Target="/ppt/notesSlides/notesSlide1.xml" Id="R4568ea2d8e444b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f33579ec946cd" /><Relationship Type="http://schemas.openxmlformats.org/officeDocument/2006/relationships/hyperlink" Target="https://papers.nips.cc/paper/6703-inductive-representation-learning-on-large-graphs" TargetMode="External" Id="Rf8ac5f532d714bbd" /><Relationship Type="http://schemas.openxmlformats.org/officeDocument/2006/relationships/notesSlide" Target="/ppt/notesSlides/notesSlide2.xml" Id="Rfec020ca17e44d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0c2fee1624d17" /><Relationship Type="http://schemas.openxmlformats.org/officeDocument/2006/relationships/hyperlink" Target="https://papers.nips.cc/paper/6703-inductive-representation-learning-on-large-graphs" TargetMode="External" Id="Rd378a04711f04322" /><Relationship Type="http://schemas.openxmlformats.org/officeDocument/2006/relationships/hyperlink" Target="https://github.com/chendahe666/AutoTriager-Shop/blob/main/autotriager_shop/gnn_retrieval.py" TargetMode="External" Id="R2edd1099b8b542b0" /><Relationship Type="http://schemas.openxmlformats.org/officeDocument/2006/relationships/notesSlide" Target="/ppt/notesSlides/notesSlide3.xml" Id="R600baecd9d1a44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b0cc7a5e44ebd" /><Relationship Type="http://schemas.openxmlformats.org/officeDocument/2006/relationships/hyperlink" Target="https://github.com/chendahe666/AutoTriager-Shop/blob/main/results/gnn-coursework-20261022/v1/message_passing_trace.json" TargetMode="External" Id="R8952405d275d46c8" /><Relationship Type="http://schemas.openxmlformats.org/officeDocument/2006/relationships/notesSlide" Target="/ppt/notesSlides/notesSlide4.xml" Id="R1dd5be33af7142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807d0ed594344" /><Relationship Type="http://schemas.openxmlformats.org/officeDocument/2006/relationships/image" Target="/ppt/media/image2.jpeg" Id="R9477c6aa3adb4fe8" /><Relationship Type="http://schemas.openxmlformats.org/officeDocument/2006/relationships/hyperlink" Target="https://github.com/chendahe666/AutoTriager-Shop/blob/main/docs/CHALLENGE3_GNN_METHOD_20261022.md" TargetMode="External" Id="R19111d8a49354a63" /><Relationship Type="http://schemas.openxmlformats.org/officeDocument/2006/relationships/notesSlide" Target="/ppt/notesSlides/notesSlide5.xml" Id="R0627f560e43c4a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b599f3b43400f" /><Relationship Type="http://schemas.openxmlformats.org/officeDocument/2006/relationships/hyperlink" Target="https://neo4j.com/docs/neo4j-graphrag-python/current/" TargetMode="External" Id="Rea3d4427eea04362" /><Relationship Type="http://schemas.openxmlformats.org/officeDocument/2006/relationships/hyperlink" Target="https://github.com/chendahe666/AutoTriager-Shop/blob/main/results/gnn-coursework-20261022/evidence_bridge/checks.json" TargetMode="External" Id="Rff29a779a9c244a9" /><Relationship Type="http://schemas.openxmlformats.org/officeDocument/2006/relationships/notesSlide" Target="/ppt/notesSlides/notesSlide6.xml" Id="Ra1c4be3ac4d548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b39e852b84aef" /><Relationship Type="http://schemas.openxmlformats.org/officeDocument/2006/relationships/hyperlink" Target="https://github.com/chendahe666/AutoTriager-Shop/blob/main/results/gnn-coursework-20261022/v2/results.json" TargetMode="External" Id="R68d4cf81834e4b67" /><Relationship Type="http://schemas.openxmlformats.org/officeDocument/2006/relationships/hyperlink" Target="https://cormack.uwaterloo.ca/cormacksigir09-rrf.pdf" TargetMode="External" Id="R97813b8a4e054722" /><Relationship Type="http://schemas.openxmlformats.org/officeDocument/2006/relationships/notesSlide" Target="/ppt/notesSlides/notesSlide7.xml" Id="Ra80f2887ab414d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5d90077124057" /><Relationship Type="http://schemas.openxmlformats.org/officeDocument/2006/relationships/hyperlink" Target="https://github.com/chendahe666/AutoTriager-Shop/blob/main/docs/CHALLENGE3_GNN_METHOD_20261022.md" TargetMode="External" Id="Rc24fd410920540d3" /><Relationship Type="http://schemas.openxmlformats.org/officeDocument/2006/relationships/notesSlide" Target="/ppt/notesSlides/notesSlide8.xml" Id="R4198dd75d52448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c41ee6abd04523" /><Relationship Type="http://schemas.openxmlformats.org/officeDocument/2006/relationships/hyperlink" Target="https://github.com/chendahe666/AutoTriager-Shop/blob/main/docs/CHALLENGE3_GNN_METHOD_20261022.md" TargetMode="External" Id="R2c5f7d1860114b1d" /><Relationship Type="http://schemas.openxmlformats.org/officeDocument/2006/relationships/notesSlide" Target="/ppt/notesSlides/notesSlide9.xml" Id="R02413c5f1c524b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31598a7984087" /><Relationship Type="http://schemas.openxmlformats.org/officeDocument/2006/relationships/hyperlink" Target="https://github.com/chendahe666/AutoTriager-Shop/blob/main/README.md" TargetMode="External" Id="Ra5c9a8c677c74fa0" /><Relationship Type="http://schemas.openxmlformats.org/officeDocument/2006/relationships/notesSlide" Target="/ppt/notesSlides/notesSlide10.xml" Id="R3896c69f980a4b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407765E-0FD8-46B5-AF5F-D1777A2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AutoTriager: GNN-enhanced GraphRAG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304D1E-3BDE-4151-9767-93BF5D8D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Dahe Chen, CS 5588 Challenge 3, October 22, 2026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A0E2C83-2863-453D-97FB-AB541DE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purpose">
            <a:extLst xmlns:a="http://schemas.openxmlformats.org/drawingml/2006/main">
              <a:ext uri="{FF2B5EF4-FFF2-40B4-BE49-F238E27FC236}">
                <a16:creationId xmlns:a16="http://schemas.microsoft.com/office/drawing/2014/main" id="{A8C2B4CA-BAF6-44F8-A601-0F921777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6007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for an engineer</a:t>
            </a:r>
          </a:p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investigating service failures</a:t>
            </a:r>
          </a:p>
        </p:txBody>
      </p:sp>
      <p:sp>
        <p:nvSpPr>
          <p:cNvPr id="5" name="bullets-4">
            <a:extLst xmlns:a="http://schemas.openxmlformats.org/drawingml/2006/main">
              <a:ext uri="{FF2B5EF4-FFF2-40B4-BE49-F238E27FC236}">
                <a16:creationId xmlns:a16="http://schemas.microsoft.com/office/drawing/2014/main" id="{80AE80D9-57DE-47B6-9D3D-08A638C7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5562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 Existing GraphRAG connects incident observations with source-backed service knowledge.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 Neo4j retrieves passages and paths. Gemini returns claims with evidence references.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2AA6D-8FE8-4F57-A1D1-9710EF0B6B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c529a80c94389"/>
          <a:srcRect xmlns:a="http://schemas.openxmlformats.org/drawingml/2006/main" l="12821" t="12500" r="0" b="25800"/>
          <a:stretch xmlns:a="http://schemas.openxmlformats.org/drawingml/2006/main"/>
        </p:blipFill>
        <p:spPr>
          <a:xfrm xmlns:a="http://schemas.openxmlformats.org/drawingml/2006/main">
            <a:off x="6515100" y="1895475"/>
            <a:ext cx="506730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kg-scope">
            <a:extLst xmlns:a="http://schemas.openxmlformats.org/drawingml/2006/main">
              <a:ext uri="{FF2B5EF4-FFF2-40B4-BE49-F238E27FC236}">
                <a16:creationId xmlns:a16="http://schemas.microsoft.com/office/drawing/2014/main" id="{3D20852F-949F-4233-AB67-AA5908CD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05425"/>
            <a:ext cx="5067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Existing KG: 73 nodes, 124 relationships.</a:t>
            </a:r>
          </a:p>
          <a:p xmlns:a="http://schemas.openxmlformats.org/drawingml/2006/main">
            <a: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Verified October 15. Screenshot: October 13.</a:t>
            </a:r>
          </a:p>
        </p:txBody>
      </p:sp>
      <p:sp>
        <p:nvSpPr>
          <p:cNvPr id="8" name="source-link-6">
            <a:extLst xmlns:a="http://schemas.openxmlformats.org/drawingml/2006/main">
              <a:ext uri="{FF2B5EF4-FFF2-40B4-BE49-F238E27FC236}">
                <a16:creationId xmlns:a16="http://schemas.microsoft.com/office/drawing/2014/main" id="{068D28C8-DB58-479E-85DF-4EEE265F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30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1baae2a120e94f3a"/>
              </a:rPr>
              <a:t>Project: github.com/chendahe666/AutoTriager-Shop</a:t>
            </a:r>
          </a:p>
        </p:txBody>
      </p:sp>
    </p:spTree>
    <p:extLst>
      <p:ext uri="{BB962C8B-B14F-4D97-AF65-F5344CB8AC3E}">
        <p14:creationId xmlns:p14="http://schemas.microsoft.com/office/powerpoint/2010/main" val="92091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AA8E2B5-EE2D-46F9-B32E-874CC2B4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add a GNN?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CA5D93-A761-43B8-9791-8D78225C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Question: can connected knowledge improve the evidence ranking?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3BCD86A-93E8-4347-AEC9-F8203FA4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limitation">
            <a:extLst xmlns:a="http://schemas.openxmlformats.org/drawingml/2006/main">
              <a:ext uri="{FF2B5EF4-FFF2-40B4-BE49-F238E27FC236}">
                <a16:creationId xmlns:a16="http://schemas.microsoft.com/office/drawing/2014/main" id="{D67FEADC-3BFE-4599-870A-3319C29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retrieval uses entity matching, graph traversal and lexical scores.</a:t>
            </a:r>
          </a:p>
        </p:txBody>
      </p:sp>
      <p:sp>
        <p:nvSpPr>
          <p:cNvPr id="5" name="bullets-4">
            <a:extLst xmlns:a="http://schemas.openxmlformats.org/drawingml/2006/main">
              <a:ext uri="{FF2B5EF4-FFF2-40B4-BE49-F238E27FC236}">
                <a16:creationId xmlns:a16="http://schemas.microsoft.com/office/drawing/2014/main" id="{7AFFF8AB-5BC2-42FD-A25F-2CA9A179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10906125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 A relevant passage may use different words from the engineer's question.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 A service, its operation and its documentation supply complementary context.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 A learned node representation can incorporate information from these neighbors.</a:t>
            </a:r>
          </a:p>
        </p:txBody>
      </p:sp>
      <p:sp>
        <p:nvSpPr>
          <p:cNvPr id="6" name="scope-limit">
            <a:extLst xmlns:a="http://schemas.openxmlformats.org/drawingml/2006/main">
              <a:ext uri="{FF2B5EF4-FFF2-40B4-BE49-F238E27FC236}">
                <a16:creationId xmlns:a16="http://schemas.microsoft.com/office/drawing/2014/main" id="{50EDC8AC-0E87-45FF-AAAB-C36C3755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experiment measures retrieval. It does not measure root-cause accuracy.</a:t>
            </a:r>
          </a:p>
        </p:txBody>
      </p:sp>
      <p:sp>
        <p:nvSpPr>
          <p:cNvPr id="7" name="source-link-6">
            <a:extLst xmlns:a="http://schemas.openxmlformats.org/drawingml/2006/main">
              <a:ext uri="{FF2B5EF4-FFF2-40B4-BE49-F238E27FC236}">
                <a16:creationId xmlns:a16="http://schemas.microsoft.com/office/drawing/2014/main" id="{88F5D703-ADAF-4EB0-990F-19543D7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30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f8ac5f532d714bbd"/>
              </a:rPr>
              <a:t>GraphSAGE: Hamilton, Ying and Leskovec, NeurIPS 2017</a:t>
            </a:r>
          </a:p>
        </p:txBody>
      </p:sp>
    </p:spTree>
    <p:extLst>
      <p:ext uri="{BB962C8B-B14F-4D97-AF65-F5344CB8AC3E}">
        <p14:creationId xmlns:p14="http://schemas.microsoft.com/office/powerpoint/2010/main" val="1537755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B23DD42-3908-495D-8B80-3316FD65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GraphSAGE with mean aggregation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8FA256-4E03-4D76-AC72-511FFCC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A node combines its own features with the average features of its neighbors.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FA9632D-ECDB-4E0F-911F-D1E8598B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mean-formula">
            <a:extLst xmlns:a="http://schemas.openxmlformats.org/drawingml/2006/main">
              <a:ext uri="{FF2B5EF4-FFF2-40B4-BE49-F238E27FC236}">
                <a16:creationId xmlns:a16="http://schemas.microsoft.com/office/drawing/2014/main" id="{E4D9D48F-9725-42AD-894C-CAF534C2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mᵥ = mean { hᵤ : u ∈ N(v) }</a:t>
            </a:r>
          </a:p>
        </p:txBody>
      </p:sp>
      <p:sp>
        <p:nvSpPr>
          <p:cNvPr id="5" name="update-formula">
            <a:extLst xmlns:a="http://schemas.openxmlformats.org/drawingml/2006/main">
              <a:ext uri="{FF2B5EF4-FFF2-40B4-BE49-F238E27FC236}">
                <a16:creationId xmlns:a16="http://schemas.microsoft.com/office/drawing/2014/main" id="{C535560E-FA9F-418E-AD58-AE8F858D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hᵥ′ = ReLU(Wₛ hᵥ + Wₙ mᵥ + b)</a:t>
            </a:r>
          </a:p>
        </p:txBody>
      </p:sp>
      <p:sp>
        <p:nvSpPr>
          <p:cNvPr id="6" name="bullets-5">
            <a:extLst xmlns:a="http://schemas.openxmlformats.org/drawingml/2006/main">
              <a:ext uri="{FF2B5EF4-FFF2-40B4-BE49-F238E27FC236}">
                <a16:creationId xmlns:a16="http://schemas.microsoft.com/office/drawing/2014/main" id="{E08EE1FB-7C36-4B66-A451-CDC8E72E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085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One layer maps 364 TF-IDF text features to 32 learned dimensions.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Training reconstructs existing graph links. It uses no question relevance labels.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L2 normalization follows the update. Cosine similarity ranks candidate passages.</a:t>
            </a:r>
          </a:p>
        </p:txBody>
      </p:sp>
      <p:sp>
        <p:nvSpPr>
          <p:cNvPr id="7" name="source-link-6">
            <a:extLst xmlns:a="http://schemas.openxmlformats.org/drawingml/2006/main">
              <a:ext uri="{FF2B5EF4-FFF2-40B4-BE49-F238E27FC236}">
                <a16:creationId xmlns:a16="http://schemas.microsoft.com/office/drawing/2014/main" id="{84E0D55C-0D45-404C-83C9-0B59DEA8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d378a04711f04322"/>
              </a:rPr>
              <a:t>Primary method: GraphSAGE, Algorithm 1</a:t>
            </a:r>
          </a:p>
        </p:txBody>
      </p:sp>
      <p:sp>
        <p:nvSpPr>
          <p:cNvPr id="8" name="source-link-7">
            <a:extLst xmlns:a="http://schemas.openxmlformats.org/drawingml/2006/main">
              <a:ext uri="{FF2B5EF4-FFF2-40B4-BE49-F238E27FC236}">
                <a16:creationId xmlns:a16="http://schemas.microsoft.com/office/drawing/2014/main" id="{B3CF59E9-72D0-427B-9137-BF936F6F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96025"/>
            <a:ext cx="4714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2edd1099b8b542b0"/>
              </a:rPr>
              <a:t>Implemented model and objective</a:t>
            </a:r>
          </a:p>
        </p:txBody>
      </p:sp>
    </p:spTree>
    <p:extLst>
      <p:ext uri="{BB962C8B-B14F-4D97-AF65-F5344CB8AC3E}">
        <p14:creationId xmlns:p14="http://schemas.microsoft.com/office/powerpoint/2010/main" val="1452781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EBF1E-2293-4378-BF26-F0D7D34ADB4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67600" y="3390900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628F0-81F9-4FE9-BBCA-086FD74FC05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24225" y="3390900"/>
            <a:ext cx="1190625" cy="1066800"/>
          </a:xfrm>
          <a:prstGeom xmlns:a="http://schemas.openxmlformats.org/drawingml/2006/main" prst="bentConnector3">
            <a:avLst>
              <a:gd name="adj1" fmla="val 19200"/>
            </a:avLst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4A878-0E08-4584-AEA3-6D008CA9054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24225" y="2433638"/>
            <a:ext cx="1190625" cy="957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82F25A61-2868-4F96-BF57-D3C75574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Message passing in the project graph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9ED460-8A50-4D55-A575-C83C5EA6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PlaceOrder receives messages from 11 neighbors in the static knowledge projection.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14774FC-2A2F-4A92-AE30-87120E2E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self-node">
            <a:extLst xmlns:a="http://schemas.openxmlformats.org/drawingml/2006/main">
              <a:ext uri="{FF2B5EF4-FFF2-40B4-BE49-F238E27FC236}">
                <a16:creationId xmlns:a16="http://schemas.microsoft.com/office/drawing/2014/main" id="{83207E8D-FB67-4896-B53D-420583A6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714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PlaceOrder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364 text features</a:t>
            </a:r>
          </a:p>
        </p:txBody>
      </p:sp>
      <p:sp>
        <p:nvSpPr>
          <p:cNvPr id="5" name="neighbor-nodes">
            <a:extLst xmlns:a="http://schemas.openxmlformats.org/drawingml/2006/main">
              <a:ext uri="{FF2B5EF4-FFF2-40B4-BE49-F238E27FC236}">
                <a16:creationId xmlns:a16="http://schemas.microsoft.com/office/drawing/2014/main" id="{D3EF2F59-EB83-49AB-96A5-E73CE9E7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714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11 graph neighbors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Operations, service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source passages</a:t>
            </a:r>
          </a:p>
        </p:txBody>
      </p:sp>
      <p:sp>
        <p:nvSpPr>
          <p:cNvPr id="6" name="mean-update">
            <a:extLst xmlns:a="http://schemas.openxmlformats.org/drawingml/2006/main">
              <a:ext uri="{FF2B5EF4-FFF2-40B4-BE49-F238E27FC236}">
                <a16:creationId xmlns:a16="http://schemas.microsoft.com/office/drawing/2014/main" id="{1461E69D-93AC-462E-83E7-11332DC8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2952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Mean aggregation</a:t>
            </a:r>
          </a:p>
          <a:p xmlns:a="http://schemas.openxmlformats.org/drawingml/2006/main">
            <a:pPr algn="ctr"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+ learned weights</a:t>
            </a:r>
          </a:p>
        </p:txBody>
      </p:sp>
      <p:sp>
        <p:nvSpPr>
          <p:cNvPr id="7" name="updated-embedding">
            <a:extLst xmlns:a="http://schemas.openxmlformats.org/drawingml/2006/main">
              <a:ext uri="{FF2B5EF4-FFF2-40B4-BE49-F238E27FC236}">
                <a16:creationId xmlns:a16="http://schemas.microsoft.com/office/drawing/2014/main" id="{C440F0ED-87E5-4187-8CD9-609C16D8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43200"/>
            <a:ext cx="27527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Updated</a:t>
            </a:r>
          </a:p>
          <a:p xmlns:a="http://schemas.openxmlformats.org/drawingml/2006/main">
            <a:pPr algn="ctr"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node embedding</a:t>
            </a:r>
          </a:p>
        </p:txBody>
      </p:sp>
      <p:sp>
        <p:nvSpPr>
          <p:cNvPr id="11" name="code-excerpt">
            <a:extLst xmlns:a="http://schemas.openxmlformats.org/drawingml/2006/main">
              <a:ext uri="{FF2B5EF4-FFF2-40B4-BE49-F238E27FC236}">
                <a16:creationId xmlns:a16="http://schemas.microsoft.com/office/drawing/2014/main" id="{FE8B4840-171E-4E3F-850E-80906388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9600"/>
            <a:ext cx="76390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Coordinate 0 before normalization: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-0.063994 + 0.127332 + 0.081373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Self          Neighbors      Bias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ReLU output = 0.144711</a:t>
            </a:r>
          </a:p>
        </p:txBody>
      </p:sp>
      <p:sp>
        <p:nvSpPr>
          <p:cNvPr id="12" name="message-check">
            <a:extLst xmlns:a="http://schemas.openxmlformats.org/drawingml/2006/main">
              <a:ext uri="{FF2B5EF4-FFF2-40B4-BE49-F238E27FC236}">
                <a16:creationId xmlns:a16="http://schemas.microsoft.com/office/drawing/2014/main" id="{683105B4-FF3C-47EC-85FB-7C6BDFC3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Reconstruction error: 2.98 × 10⁻⁸. A message does not prove a causal dependency.</a:t>
            </a:r>
          </a:p>
        </p:txBody>
      </p:sp>
      <p:sp>
        <p:nvSpPr>
          <p:cNvPr id="13" name="source-link-12">
            <a:extLst xmlns:a="http://schemas.openxmlformats.org/drawingml/2006/main">
              <a:ext uri="{FF2B5EF4-FFF2-40B4-BE49-F238E27FC236}">
                <a16:creationId xmlns:a16="http://schemas.microsoft.com/office/drawing/2014/main" id="{4319F9BC-DA6F-4608-ABC9-3E8447B2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30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8952405d275d46c8"/>
              </a:rPr>
              <a:t>Recorded tensors and numerical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361025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DCE8A16-F346-4245-9E54-D4F6C010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Hands-on project experiment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4EB493-840D-43EA-870D-4007C7F4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Independent project exercise, October 22. October 20 class materials were not available.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C6EAF84-443B-437C-A0D3-AE7CE5DC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bullets-3">
            <a:extLst xmlns:a="http://schemas.openxmlformats.org/drawingml/2006/main">
              <a:ext uri="{FF2B5EF4-FFF2-40B4-BE49-F238E27FC236}">
                <a16:creationId xmlns:a16="http://schemas.microsoft.com/office/drawing/2014/main" id="{CE714212-0F1E-4659-AF9F-62D20BFF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4905375" cy="305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35 nodes: 5 services, 7 operations and 23 source passages.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30 source/topic links. Both directions contribute to the mean.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PyTorch on CPU, 120 epochs, seed 42.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Training uses source links. Incident labels stay outside the model.</a:t>
            </a:r>
          </a:p>
        </p:txBody>
      </p:sp>
      <p:sp>
        <p:nvSpPr>
          <p:cNvPr id="5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83A930CA-3DF7-4B40-A4C0-ACB0137B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V1 loss: 1.355 to 0.377</a:t>
            </a:r>
          </a:p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Training: 1.988 seconds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19486-0AB4-4687-9C91-FF5E22E0C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7c6aa3adb4fe8"/>
          <a:stretch xmlns:a="http://schemas.openxmlformats.org/drawingml/2006/main"/>
        </p:blipFill>
        <p:spPr>
          <a:xfrm xmlns:a="http://schemas.openxmlformats.org/drawingml/2006/main">
            <a:off x="5848350" y="2043907"/>
            <a:ext cx="5734050" cy="3227386"/>
          </a:xfrm>
          <a:prstGeom xmlns:a="http://schemas.openxmlformats.org/drawingml/2006/main" prst="rect">
            <a:avLst/>
          </a:prstGeom>
        </p:spPr>
      </p:pic>
      <p:sp>
        <p:nvSpPr>
          <p:cNvPr id="7" name="implementation-caption">
            <a:extLst xmlns:a="http://schemas.openxmlformats.org/drawingml/2006/main">
              <a:ext uri="{FF2B5EF4-FFF2-40B4-BE49-F238E27FC236}">
                <a16:creationId xmlns:a16="http://schemas.microsoft.com/office/drawing/2014/main" id="{16333A31-2BD1-49D3-8150-1EEE1386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62600"/>
            <a:ext cx="5734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Actual experiment report. All numbers</a:t>
            </a:r>
          </a:p>
          <a:p xmlns:a="http://schemas.openxmlformats.org/drawingml/2006/main">
            <a:pPr>
              <a:defRPr sz="18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come from the saved local run.</a:t>
            </a:r>
          </a:p>
        </p:txBody>
      </p:sp>
      <p:sp>
        <p:nvSpPr>
          <p:cNvPr id="8" name="source-link-6">
            <a:extLst xmlns:a="http://schemas.openxmlformats.org/drawingml/2006/main">
              <a:ext uri="{FF2B5EF4-FFF2-40B4-BE49-F238E27FC236}">
                <a16:creationId xmlns:a16="http://schemas.microsoft.com/office/drawing/2014/main" id="{01A688CE-5974-4E20-8B9E-29F6A791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30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19111d8a49354a63"/>
              </a:rPr>
              <a:t>Reproducible code, configuration and results</a:t>
            </a:r>
          </a:p>
        </p:txBody>
      </p:sp>
    </p:spTree>
    <p:extLst>
      <p:ext uri="{BB962C8B-B14F-4D97-AF65-F5344CB8AC3E}">
        <p14:creationId xmlns:p14="http://schemas.microsoft.com/office/powerpoint/2010/main" val="764139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93B7C-70B2-4E3A-B3E4-229FEFEF2272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2981325" y="4410075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AD463-51A5-43E5-9FE9-C0D01CC9E205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96125" y="441007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E025D-4A97-49A8-990F-2993956E2D8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072688" y="2933700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279BD-4CD8-477A-B5BD-A85C97AA1A3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96125" y="24384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84F0B-CFAD-4DF5-96F9-DE596C3B2E3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81325" y="24384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749F93D-3D98-4474-938B-C96AD89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GNN ranking before evidence retrieval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6751BA-7EF1-45DB-8739-6CCFBF2B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The experiment ranks original evidence from a local snapshot of the existing graph.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6C6610A-0E26-42EA-BA68-A804ABD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knowledge">
            <a:extLst xmlns:a="http://schemas.openxmlformats.org/drawingml/2006/main">
              <a:ext uri="{FF2B5EF4-FFF2-40B4-BE49-F238E27FC236}">
                <a16:creationId xmlns:a16="http://schemas.microsoft.com/office/drawing/2014/main" id="{70E5522A-DD3D-4B8D-BD18-403BA59D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71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Existing KG model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snapshot</a:t>
            </a:r>
          </a:p>
        </p:txBody>
      </p:sp>
      <p:sp>
        <p:nvSpPr>
          <p:cNvPr id="5" name="encoder">
            <a:extLst xmlns:a="http://schemas.openxmlformats.org/drawingml/2006/main">
              <a:ext uri="{FF2B5EF4-FFF2-40B4-BE49-F238E27FC236}">
                <a16:creationId xmlns:a16="http://schemas.microsoft.com/office/drawing/2014/main" id="{4B3BE517-D4DF-4C89-AD81-0064FBCA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43100"/>
            <a:ext cx="3000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GraphSAGE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node embeddings</a:t>
            </a:r>
          </a:p>
        </p:txBody>
      </p:sp>
      <p:sp>
        <p:nvSpPr>
          <p:cNvPr id="6" name="ranker">
            <a:extLst xmlns:a="http://schemas.openxmlformats.org/drawingml/2006/main">
              <a:ext uri="{FF2B5EF4-FFF2-40B4-BE49-F238E27FC236}">
                <a16:creationId xmlns:a16="http://schemas.microsoft.com/office/drawing/2014/main" id="{451F62DE-644C-485E-929E-27BAE153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43100"/>
            <a:ext cx="3019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 + 10 candidates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GNN reranking</a:t>
            </a:r>
          </a:p>
        </p:txBody>
      </p:sp>
      <p:sp>
        <p:nvSpPr>
          <p:cNvPr id="9" name="fetch">
            <a:extLst xmlns:a="http://schemas.openxmlformats.org/drawingml/2006/main">
              <a:ext uri="{FF2B5EF4-FFF2-40B4-BE49-F238E27FC236}">
                <a16:creationId xmlns:a16="http://schemas.microsoft.com/office/drawing/2014/main" id="{BE8C90C2-0F17-4067-85B5-BB29EE72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95725"/>
            <a:ext cx="3019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Top-5 passage IDs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corpus lookup</a:t>
            </a:r>
          </a:p>
        </p:txBody>
      </p:sp>
      <p:sp>
        <p:nvSpPr>
          <p:cNvPr id="10" name="packet">
            <a:extLst xmlns:a="http://schemas.openxmlformats.org/drawingml/2006/main">
              <a:ext uri="{FF2B5EF4-FFF2-40B4-BE49-F238E27FC236}">
                <a16:creationId xmlns:a16="http://schemas.microsoft.com/office/drawing/2014/main" id="{B465D43A-021E-49F5-ADC4-9FC9EA30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3000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Original passages</a:t>
            </a:r>
          </a:p>
          <a:p xmlns:a="http://schemas.openxmlformats.org/drawingml/2006/main">
            <a: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+ evidence IDs</a:t>
            </a:r>
          </a:p>
        </p:txBody>
      </p:sp>
      <p:sp>
        <p:nvSpPr>
          <p:cNvPr id="11" name="answer">
            <a:extLst xmlns:a="http://schemas.openxmlformats.org/drawingml/2006/main">
              <a:ext uri="{FF2B5EF4-FFF2-40B4-BE49-F238E27FC236}">
                <a16:creationId xmlns:a16="http://schemas.microsoft.com/office/drawing/2014/main" id="{79339E9D-14D2-4252-AE61-CCDEBF8D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71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Existing LLM stage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rerun today</a:t>
            </a:r>
          </a:p>
        </p:txBody>
      </p:sp>
      <p:sp>
        <p:nvSpPr>
          <p:cNvPr id="15" name="integration-status">
            <a:extLst xmlns:a="http://schemas.openxmlformats.org/drawingml/2006/main">
              <a:ext uri="{FF2B5EF4-FFF2-40B4-BE49-F238E27FC236}">
                <a16:creationId xmlns:a16="http://schemas.microsoft.com/office/drawing/2014/main" id="{C5D6AA5E-2671-488F-B990-EF03E9E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Offline bridge: 9/9 evidence packets pass integrity checks. Original records remain intact.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Aura connection failed. The cloud query and LLM answer stages were not rerun today.</a:t>
            </a:r>
          </a:p>
        </p:txBody>
      </p:sp>
      <p:sp>
        <p:nvSpPr>
          <p:cNvPr id="16" name="source-link-15">
            <a:extLst xmlns:a="http://schemas.openxmlformats.org/drawingml/2006/main">
              <a:ext uri="{FF2B5EF4-FFF2-40B4-BE49-F238E27FC236}">
                <a16:creationId xmlns:a16="http://schemas.microsoft.com/office/drawing/2014/main" id="{DE954F17-9F64-49C1-830F-CF3267A4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ea3d4427eea04362"/>
              </a:rPr>
              <a:t>Neo4j GraphRAG for Python</a:t>
            </a:r>
          </a:p>
        </p:txBody>
      </p:sp>
      <p:sp>
        <p:nvSpPr>
          <p:cNvPr id="17" name="source-link-16">
            <a:extLst xmlns:a="http://schemas.openxmlformats.org/drawingml/2006/main">
              <a:ext uri="{FF2B5EF4-FFF2-40B4-BE49-F238E27FC236}">
                <a16:creationId xmlns:a16="http://schemas.microsoft.com/office/drawing/2014/main" id="{188E5271-F778-462E-8EE2-F3D1D2AC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305550"/>
            <a:ext cx="4657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ff29a779a9c244a9"/>
              </a:rPr>
              <a:t>Project integration example</a:t>
            </a:r>
          </a:p>
        </p:txBody>
      </p:sp>
    </p:spTree>
    <p:extLst>
      <p:ext uri="{BB962C8B-B14F-4D97-AF65-F5344CB8AC3E}">
        <p14:creationId xmlns:p14="http://schemas.microsoft.com/office/powerpoint/2010/main" val="1907237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522DCD0-1173-43CA-BA07-35B43DD5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 evidence-ranking example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C75F09-3144-42DF-9F76-B435E10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Development question, shortened: Which evidence supports inspecting payment next?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1C4AA60-8531-4A72-B648-0EAD5915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B3364-BA51-4383-B1E4-F2EE44A4B2CD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676525"/>
                <a:gridCol w="2676525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Required source passage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Lexical rank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V2 fusion rank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Payment error handler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Checkout calls payment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anking-observation">
            <a:extLst xmlns:a="http://schemas.openxmlformats.org/drawingml/2006/main">
              <a:ext uri="{FF2B5EF4-FFF2-40B4-BE49-F238E27FC236}">
                <a16:creationId xmlns:a16="http://schemas.microsoft.com/office/drawing/2014/main" id="{51B4E72E-364E-442F-829E-3A3BC36F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V2 places both required passages in the first five.</a:t>
            </a:r>
          </a:p>
        </p:txBody>
      </p:sp>
      <p:sp>
        <p:nvSpPr>
          <p:cNvPr id="6" name="ranking-limit">
            <a:extLst xmlns:a="http://schemas.openxmlformats.org/drawingml/2006/main">
              <a:ext uri="{FF2B5EF4-FFF2-40B4-BE49-F238E27FC236}">
                <a16:creationId xmlns:a16="http://schemas.microsoft.com/office/drawing/2014/main" id="{3900FF68-F250-4C80-8184-908BF2B4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V2: equal-weight reciprocal rank fusion, k = 60.</a:t>
            </a:r>
          </a:p>
          <a:p xmlns:a="http://schemas.openxmlformats.org/drawingml/2006/main">
            <a:pPr>
              <a:defRPr sz="172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The lexical cutoff contains tied scores, so this comparison is tie-sensitive.</a:t>
            </a:r>
          </a:p>
        </p:txBody>
      </p:sp>
      <p:sp>
        <p:nvSpPr>
          <p:cNvPr id="7" name="source-link-5">
            <a:extLst xmlns:a="http://schemas.openxmlformats.org/drawingml/2006/main">
              <a:ext uri="{FF2B5EF4-FFF2-40B4-BE49-F238E27FC236}">
                <a16:creationId xmlns:a16="http://schemas.microsoft.com/office/drawing/2014/main" id="{D3D776E4-B530-4A69-AB25-B19FD09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71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68d4cf81834e4b67"/>
              </a:rPr>
              <a:t>Exact queries and ranked IDs</a:t>
            </a:r>
          </a:p>
        </p:txBody>
      </p:sp>
      <p:sp>
        <p:nvSpPr>
          <p:cNvPr id="8" name="source-link-6">
            <a:extLst xmlns:a="http://schemas.openxmlformats.org/drawingml/2006/main">
              <a:ext uri="{FF2B5EF4-FFF2-40B4-BE49-F238E27FC236}">
                <a16:creationId xmlns:a16="http://schemas.microsoft.com/office/drawing/2014/main" id="{0F644A63-BA40-4380-8FD3-8F17AC2D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24600"/>
            <a:ext cx="472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97813b8a4e054722"/>
              </a:rPr>
              <a:t>RRF: Cormack et al., SIGIR 2009</a:t>
            </a:r>
          </a:p>
        </p:txBody>
      </p:sp>
    </p:spTree>
    <p:extLst>
      <p:ext uri="{BB962C8B-B14F-4D97-AF65-F5344CB8AC3E}">
        <p14:creationId xmlns:p14="http://schemas.microsoft.com/office/powerpoint/2010/main" val="1766330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7C80CC1-5A5F-47D0-8B15-AD54276A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Retrieval results and limits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63277B-C07D-4AD4-A924-84C7027E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Three existing development questions, identical ten-candidate pools, Top-5 evidence budget.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A83B232-19FD-4977-9470-0C2D8514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E7518-F160-4E77-BFEC-94F58F087816}"/>
              </a:ext>
            </a:extLst>
          </p:cNvPr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9625"/>
                <a:gridCol w="3171825"/>
                <a:gridCol w="31813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Mean Recall@5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Mean reciprocal rank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Original GraphRAG order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0.778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0.556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Global lexical score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0.722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0.778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V1 GraphSAGE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0.778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0.567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V2 lexical + GraphSAGE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0.889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0.556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main-result">
            <a:extLst xmlns:a="http://schemas.openxmlformats.org/drawingml/2006/main">
              <a:ext uri="{FF2B5EF4-FFF2-40B4-BE49-F238E27FC236}">
                <a16:creationId xmlns:a16="http://schemas.microsoft.com/office/drawing/2014/main" id="{0AAEE50E-4718-4D9A-ACF1-BFBA838E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lexical retrieval as default. V2 remains experimental.</a:t>
            </a:r>
          </a:p>
        </p:txBody>
      </p:sp>
      <p:sp>
        <p:nvSpPr>
          <p:cNvPr id="6" name="limits">
            <a:extLst xmlns:a="http://schemas.openxmlformats.org/drawingml/2006/main">
              <a:ext uri="{FF2B5EF4-FFF2-40B4-BE49-F238E27FC236}">
                <a16:creationId xmlns:a16="http://schemas.microsoft.com/office/drawing/2014/main" id="{3E11F7AD-1275-4E6D-A993-4D42014B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Lexical cutoff ties permit mean Recall@5 from 0.722 to 0.889. V2 reaches 0.889.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V1 and its no-neighbor control tie. No robust GNN gain is established.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known questions, one incident. No new answer-quality test.</a:t>
            </a:r>
          </a:p>
        </p:txBody>
      </p:sp>
      <p:sp>
        <p:nvSpPr>
          <p:cNvPr id="7" name="source-link-5">
            <a:extLst xmlns:a="http://schemas.openxmlformats.org/drawingml/2006/main">
              <a:ext uri="{FF2B5EF4-FFF2-40B4-BE49-F238E27FC236}">
                <a16:creationId xmlns:a16="http://schemas.microsoft.com/office/drawing/2014/main" id="{D8BBE943-FD6F-4C59-9312-59ACD09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30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c24fd410920540d3"/>
              </a:rPr>
              <a:t>Complete metrics and experiment limitations</a:t>
            </a:r>
          </a:p>
        </p:txBody>
      </p:sp>
    </p:spTree>
    <p:extLst>
      <p:ext uri="{BB962C8B-B14F-4D97-AF65-F5344CB8AC3E}">
        <p14:creationId xmlns:p14="http://schemas.microsoft.com/office/powerpoint/2010/main" val="1884728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42A8048-EFF8-4D69-A4D7-D350B68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Human-AI co-design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2B11C1-3178-4DF8-8E1D-E28A502B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My direction: test GNN on this project, with at most three versions.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6BE3D12-85A7-4123-99C0-FBCA7F04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95A37-C5B2-4909-9D1C-F2B4D201D267}"/>
              </a:ext>
            </a:extLst>
          </p:cNvPr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52725"/>
                <a:gridCol w="8220075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Recorded guidance or implementation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My prompt (translated)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Try GNN on our system. Test the benefit. Explain failures and revise, up to three versions.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AI engineering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Train GraphSAGE, preserve baselines and diagnose missing evidence before revising.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Observed revision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V2 adds rank fusion. The tie audit prevents claiming a robust gain. Stop after two versions.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earning">
            <a:extLst xmlns:a="http://schemas.openxmlformats.org/drawingml/2006/main">
              <a:ext uri="{FF2B5EF4-FFF2-40B4-BE49-F238E27FC236}">
                <a16:creationId xmlns:a16="http://schemas.microsoft.com/office/drawing/2014/main" id="{4AF94A23-3EE1-413D-A93D-5AACC534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lesson</a:t>
            </a:r>
          </a:p>
        </p:txBody>
      </p:sp>
      <p:sp>
        <p:nvSpPr>
          <p:cNvPr id="6" name="learning-body">
            <a:extLst xmlns:a="http://schemas.openxmlformats.org/drawingml/2006/main">
              <a:ext uri="{FF2B5EF4-FFF2-40B4-BE49-F238E27FC236}">
                <a16:creationId xmlns:a16="http://schemas.microsoft.com/office/drawing/2014/main" id="{3796EBFA-860D-4DEB-BD7B-ACFDFA85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My input set the goal and iteration limit. AI implemented and tested alternatives.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human review: interpret the trade-off and define unseen test questions.</a:t>
            </a:r>
          </a:p>
        </p:txBody>
      </p:sp>
      <p:sp>
        <p:nvSpPr>
          <p:cNvPr id="7" name="source-link-5">
            <a:extLst xmlns:a="http://schemas.openxmlformats.org/drawingml/2006/main">
              <a:ext uri="{FF2B5EF4-FFF2-40B4-BE49-F238E27FC236}">
                <a16:creationId xmlns:a16="http://schemas.microsoft.com/office/drawing/2014/main" id="{83A5487A-0E6F-4BEF-9EAE-1C84FB07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30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2c5f7d1860114b1d"/>
              </a:rPr>
              <a:t>Recorded human guidance and implementation changes</a:t>
            </a:r>
          </a:p>
        </p:txBody>
      </p:sp>
    </p:spTree>
    <p:extLst>
      <p:ext uri="{BB962C8B-B14F-4D97-AF65-F5344CB8AC3E}">
        <p14:creationId xmlns:p14="http://schemas.microsoft.com/office/powerpoint/2010/main" val="187635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E11E595-90C1-4611-BEAC-B99D9BCD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Lessons and next steps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CB1224-5232-4999-B6B0-02F315D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The working example establishes a testable retrieval extension.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9D7F85B-8FA5-46B9-A8B3-B5813AAA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bullets-3">
            <a:extLst xmlns:a="http://schemas.openxmlformats.org/drawingml/2006/main">
              <a:ext uri="{FF2B5EF4-FFF2-40B4-BE49-F238E27FC236}">
                <a16:creationId xmlns:a16="http://schemas.microsoft.com/office/drawing/2014/main" id="{EADD66B7-CBE5-4BE7-9D93-93CFAEC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08394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 Neighbor messages update a real project embedding, with every term preserved.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 A lower training loss does not guarantee better retrieval.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 The evidence supports a working experiment, with no robust benefit established.</a:t>
            </a:r>
          </a:p>
        </p:txBody>
      </p:sp>
      <p:sp>
        <p:nvSpPr>
          <p:cNvPr id="5" name="next-title">
            <a:extLst xmlns:a="http://schemas.openxmlformats.org/drawingml/2006/main">
              <a:ext uri="{FF2B5EF4-FFF2-40B4-BE49-F238E27FC236}">
                <a16:creationId xmlns:a16="http://schemas.microsoft.com/office/drawing/2014/main" id="{0632FC6E-0FC2-4B1A-A63C-608AE09E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Before the October 26 report</a:t>
            </a:r>
          </a:p>
        </p:txBody>
      </p:sp>
      <p:sp>
        <p:nvSpPr>
          <p:cNvPr id="6" name="next-body">
            <a:extLst xmlns:a="http://schemas.openxmlformats.org/drawingml/2006/main">
              <a:ext uri="{FF2B5EF4-FFF2-40B4-BE49-F238E27FC236}">
                <a16:creationId xmlns:a16="http://schemas.microsoft.com/office/drawing/2014/main" id="{3D4B2FA1-4617-4556-9F00-7FF63248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Explain the trade-off, test unseen questions,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check answer quality before replacing the current retriever.</a:t>
            </a:r>
          </a:p>
        </p:txBody>
      </p:sp>
      <p:sp>
        <p:nvSpPr>
          <p:cNvPr id="7" name="source-link-6">
            <a:extLst xmlns:a="http://schemas.openxmlformats.org/drawingml/2006/main">
              <a:ext uri="{FF2B5EF4-FFF2-40B4-BE49-F238E27FC236}">
                <a16:creationId xmlns:a16="http://schemas.microsoft.com/office/drawing/2014/main" id="{D93E1DFD-1768-4C47-87AC-BC16911A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30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a5c9a8c677c74fa0"/>
              </a:rPr>
              <a:t>Code and evidence: github.com/chendahe666/AutoTriager-Shop</a:t>
            </a:r>
          </a:p>
        </p:txBody>
      </p:sp>
    </p:spTree>
    <p:extLst>
      <p:ext uri="{BB962C8B-B14F-4D97-AF65-F5344CB8AC3E}">
        <p14:creationId xmlns:p14="http://schemas.microsoft.com/office/powerpoint/2010/main" val="468395456"/>
      </p:ext>
    </p:extLst>
  </p:cSld>
</p:sld>
</file>

<file path=ppt/theme/theme1.xml><?xml version="1.0" encoding="utf-8"?>
<a:theme xmlns:a="http://schemas.openxmlformats.org/drawingml/2006/main" name="ChatGPT">
  <a:themeElements>
    <a:clrScheme name="Workshop Monochrome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111111"/>
      </a:accent1>
      <a:accent2>
        <a:srgbClr val="333333"/>
      </a:accent2>
      <a:accent3>
        <a:srgbClr val="555555"/>
      </a:accent3>
      <a:accent4>
        <a:srgbClr val="777777"/>
      </a:accent4>
      <a:accent5>
        <a:srgbClr val="999999"/>
      </a:accent5>
      <a:accent6>
        <a:srgbClr val="BBBBBB"/>
      </a:accent6>
      <a:hlink>
        <a:srgbClr val="4B4B4B"/>
      </a:hlink>
      <a:folHlink>
        <a:srgbClr val="4B4B4B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orkshop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2026-10-22T06:18:53.7400000Z</dcterms:created>
  <dcterms:modified xsi:type="dcterms:W3CDTF">2026-10-22T06:18:53.7400000Z</dcterms:modified>
</coreProperties>
</file>
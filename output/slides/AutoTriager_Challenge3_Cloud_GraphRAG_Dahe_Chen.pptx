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c82f5c94f4099" /><Relationship Type="http://schemas.openxmlformats.org/officeDocument/2006/relationships/extended-properties" Target="/docProps/app.xml" Id="R902f9140d886490c" /><Relationship Type="http://schemas.openxmlformats.org/officeDocument/2006/relationships/officeDocument" Target="/ppt/presentation.xml" Id="R317968883ef5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f061e9ca64d10"/>
  </p:sldMasterIdLst>
  <p:notesMasterIdLst>
    <p:notesMasterId xmlns:r="http://schemas.openxmlformats.org/officeDocument/2006/relationships" r:id="Rba3567c1912c4ed5"/>
  </p:notesMasterIdLst>
  <p:sldIdLst>
    <p:sldId xmlns:r="http://schemas.openxmlformats.org/officeDocument/2006/relationships" id="256" r:id="R13411cfd08ea4398"/>
    <p:sldId xmlns:r="http://schemas.openxmlformats.org/officeDocument/2006/relationships" id="257" r:id="R60494be5cca549e4"/>
    <p:sldId xmlns:r="http://schemas.openxmlformats.org/officeDocument/2006/relationships" id="258" r:id="R98a652173d134d81"/>
    <p:sldId xmlns:r="http://schemas.openxmlformats.org/officeDocument/2006/relationships" id="259" r:id="Rb8a58448ddcc4f58"/>
    <p:sldId xmlns:r="http://schemas.openxmlformats.org/officeDocument/2006/relationships" id="260" r:id="Rdab9c3a0c64c46b2"/>
    <p:sldId xmlns:r="http://schemas.openxmlformats.org/officeDocument/2006/relationships" id="261" r:id="R8d8380c5b63044ef"/>
    <p:sldId xmlns:r="http://schemas.openxmlformats.org/officeDocument/2006/relationships" id="262" r:id="R90839eaf5a264f54"/>
    <p:sldId xmlns:r="http://schemas.openxmlformats.org/officeDocument/2006/relationships" id="263" r:id="R44368f32942045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7b3d250ff487e" /><Relationship Type="http://schemas.openxmlformats.org/officeDocument/2006/relationships/slideMaster" Target="/ppt/slideMasters/slideMaster1.xml" Id="Rfa5f061e9ca64d10" /><Relationship Type="http://schemas.openxmlformats.org/officeDocument/2006/relationships/notesMaster" Target="/ppt/notesMasters/notesMaster1.xml" Id="Rba3567c1912c4ed5" /><Relationship Type="http://schemas.openxmlformats.org/officeDocument/2006/relationships/presProps" Target="/ppt/presProps.xml" Id="R229357e3a33d46de" /><Relationship Type="http://schemas.openxmlformats.org/officeDocument/2006/relationships/tableStyles" Target="/ppt/tableStyles.xml" Id="R79443ec4c7ec455b" /><Relationship Type="http://schemas.openxmlformats.org/officeDocument/2006/relationships/slide" Target="/ppt/slides/slide1.xml" Id="R13411cfd08ea4398" /><Relationship Type="http://schemas.openxmlformats.org/officeDocument/2006/relationships/slide" Target="/ppt/slides/slide2.xml" Id="R60494be5cca549e4" /><Relationship Type="http://schemas.openxmlformats.org/officeDocument/2006/relationships/slide" Target="/ppt/slides/slide3.xml" Id="R98a652173d134d81" /><Relationship Type="http://schemas.openxmlformats.org/officeDocument/2006/relationships/slide" Target="/ppt/slides/slide4.xml" Id="Rb8a58448ddcc4f58" /><Relationship Type="http://schemas.openxmlformats.org/officeDocument/2006/relationships/slide" Target="/ppt/slides/slide5.xml" Id="Rdab9c3a0c64c46b2" /><Relationship Type="http://schemas.openxmlformats.org/officeDocument/2006/relationships/slide" Target="/ppt/slides/slide6.xml" Id="R8d8380c5b63044ef" /><Relationship Type="http://schemas.openxmlformats.org/officeDocument/2006/relationships/slide" Target="/ppt/slides/slide7.xml" Id="R90839eaf5a264f54" /><Relationship Type="http://schemas.openxmlformats.org/officeDocument/2006/relationships/slide" Target="/ppt/slides/slide8.xml" Id="R44368f329420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f86ae7adf4a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c5bc8838a748d9" /><Relationship Type="http://schemas.openxmlformats.org/officeDocument/2006/relationships/notesMaster" Target="/ppt/notesMasters/notesMaster1.xml" Id="R2886585c84f4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2e166c94e4070" /><Relationship Type="http://schemas.openxmlformats.org/officeDocument/2006/relationships/notesMaster" Target="/ppt/notesMasters/notesMaster1.xml" Id="R96d58bcba29e45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e46cc3be54b9b" /><Relationship Type="http://schemas.openxmlformats.org/officeDocument/2006/relationships/notesMaster" Target="/ppt/notesMasters/notesMaster1.xml" Id="Reeefe4b9eb04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a78a5386e04978" /><Relationship Type="http://schemas.openxmlformats.org/officeDocument/2006/relationships/notesMaster" Target="/ppt/notesMasters/notesMaster1.xml" Id="R9c26bd2e4bd64c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207e8a39445cc" /><Relationship Type="http://schemas.openxmlformats.org/officeDocument/2006/relationships/notesMaster" Target="/ppt/notesMasters/notesMaster1.xml" Id="Rcf020827d4bd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6e1ec383ab4928" /><Relationship Type="http://schemas.openxmlformats.org/officeDocument/2006/relationships/notesMaster" Target="/ppt/notesMasters/notesMaster1.xml" Id="R2f9e696fe4eb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5b45ccb272462f" /><Relationship Type="http://schemas.openxmlformats.org/officeDocument/2006/relationships/notesMaster" Target="/ppt/notesMasters/notesMaster1.xml" Id="R3e7a0e31503b43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43f2dd197a4227" /><Relationship Type="http://schemas.openxmlformats.org/officeDocument/2006/relationships/notesMaster" Target="/ppt/notesMasters/notesMaster1.xml" Id="Rab929b7bb431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406eb3f7449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dcc3cfb6f4b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f9a8ff0e242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863590fe743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831cd40be4d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a4f8e19fa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0CC62-879F-46FF-84DF-968A904F0F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F0B779-8109-4D85-8124-FD6C2958CC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61B118-9CED-4DBF-8C37-942482735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A7ADEF-A93B-4577-B4EC-27E42546B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052476-5401-4EC7-A5D1-565A3361F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6C0E15-7C23-48B7-AFC3-8DDF2EC4C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EE6B7E-2AB5-48EC-B362-B7F8DA4C2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92C89B-C3B8-40D3-BB91-CF58E06DAC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3C48D-4015-423B-8E0D-BC083AD5D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DB0661-2283-4B4D-B617-6B862CEF6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3545f6014a4a80" /><Relationship Type="http://schemas.openxmlformats.org/officeDocument/2006/relationships/slideLayout" Target="/ppt/slideLayouts/slideLayout1.xml" Id="R1bc830eeebea4ef4" /><Relationship Type="http://schemas.openxmlformats.org/officeDocument/2006/relationships/slideLayout" Target="/ppt/slideLayouts/slideLayout2.xml" Id="R4a92f426386642e4" /><Relationship Type="http://schemas.openxmlformats.org/officeDocument/2006/relationships/slideLayout" Target="/ppt/slideLayouts/slideLayout3.xml" Id="Ra396c10d377444ec" /><Relationship Type="http://schemas.openxmlformats.org/officeDocument/2006/relationships/slideLayout" Target="/ppt/slideLayouts/slideLayout4.xml" Id="Raf468831ff054249" /><Relationship Type="http://schemas.openxmlformats.org/officeDocument/2006/relationships/slideLayout" Target="/ppt/slideLayouts/slideLayout5.xml" Id="R297ad337e45f4553" /><Relationship Type="http://schemas.openxmlformats.org/officeDocument/2006/relationships/slideLayout" Target="/ppt/slideLayouts/slideLayout6.xml" Id="Rb4a57066351a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830eeebea4ef4"/>
    <p:sldLayoutId xmlns:r="http://schemas.openxmlformats.org/officeDocument/2006/relationships" id="2147483650" r:id="R4a92f426386642e4"/>
    <p:sldLayoutId xmlns:r="http://schemas.openxmlformats.org/officeDocument/2006/relationships" id="2147483651" r:id="Ra396c10d377444ec"/>
    <p:sldLayoutId xmlns:r="http://schemas.openxmlformats.org/officeDocument/2006/relationships" id="2147483652" r:id="Raf468831ff054249"/>
    <p:sldLayoutId xmlns:r="http://schemas.openxmlformats.org/officeDocument/2006/relationships" id="2147483653" r:id="R297ad337e45f4553"/>
    <p:sldLayoutId xmlns:r="http://schemas.openxmlformats.org/officeDocument/2006/relationships" id="2147483654" r:id="Rb4a57066351a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da546fa8e47e6" /><Relationship Type="http://schemas.openxmlformats.org/officeDocument/2006/relationships/notesSlide" Target="/ppt/notesSlides/notesSlide1.xml" Id="R464584810b6e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60fc71891422c" /><Relationship Type="http://schemas.openxmlformats.org/officeDocument/2006/relationships/hyperlink" Target="https://opentelemetry.io/docs/specs/semconv/" TargetMode="External" Id="Raa441c2b66b949c0" /><Relationship Type="http://schemas.openxmlformats.org/officeDocument/2006/relationships/hyperlink" Target="https://www.w3.org/TR/prov-o/" TargetMode="External" Id="Rb854b41d3ecd4366" /><Relationship Type="http://schemas.openxmlformats.org/officeDocument/2006/relationships/hyperlink" Target="https://github.com/open-telemetry/opentelemetry-demo/tree/dedc0178918e260823323b8d95005a8cb924b007" TargetMode="External" Id="R9741b1755f6c47e6" /><Relationship Type="http://schemas.openxmlformats.org/officeDocument/2006/relationships/notesSlide" Target="/ppt/notesSlides/notesSlide2.xml" Id="R1905e2b57c06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d58fcbe284dfc" /><Relationship Type="http://schemas.openxmlformats.org/officeDocument/2006/relationships/notesSlide" Target="/ppt/notesSlides/notesSlide3.xml" Id="Rb158a3d926654c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f6d552b854e82" /><Relationship Type="http://schemas.openxmlformats.org/officeDocument/2006/relationships/image" Target="/ppt/media/image.jpeg" Id="R2a088cea515d4a4a" /><Relationship Type="http://schemas.openxmlformats.org/officeDocument/2006/relationships/notesSlide" Target="/ppt/notesSlides/notesSlide4.xml" Id="R3a18dfc2b041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a07092d9f4ef6" /><Relationship Type="http://schemas.openxmlformats.org/officeDocument/2006/relationships/image" Target="/ppt/media/image2.jpeg" Id="Ra7065f5a03a14f54" /><Relationship Type="http://schemas.openxmlformats.org/officeDocument/2006/relationships/notesSlide" Target="/ppt/notesSlides/notesSlide5.xml" Id="R53621dcd604f45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e133209014cbe" /><Relationship Type="http://schemas.openxmlformats.org/officeDocument/2006/relationships/hyperlink" Target="https://neo4j.com/docs/neo4j-graphrag-python/current/user_guide_rag.html" TargetMode="External" Id="R18b9c388428e41e7" /><Relationship Type="http://schemas.openxmlformats.org/officeDocument/2006/relationships/notesSlide" Target="/ppt/notesSlides/notesSlide6.xml" Id="Rfcf801af03b7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a0ce3ff3fc4592" /><Relationship Type="http://schemas.openxmlformats.org/officeDocument/2006/relationships/image" Target="/ppt/media/image3.jpeg" Id="Rc13ffca8359f4149" /><Relationship Type="http://schemas.openxmlformats.org/officeDocument/2006/relationships/notesSlide" Target="/ppt/notesSlides/notesSlide7.xml" Id="Rfa5e51346623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7ffee29ed4515" /><Relationship Type="http://schemas.openxmlformats.org/officeDocument/2006/relationships/notesSlide" Target="/ppt/notesSlides/notesSlide8.xml" Id="Rc85cb567dc5f41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ject">
            <a:extLst xmlns:a="http://schemas.openxmlformats.org/drawingml/2006/main">
              <a:ext uri="{FF2B5EF4-FFF2-40B4-BE49-F238E27FC236}">
                <a16:creationId xmlns:a16="http://schemas.microsoft.com/office/drawing/2014/main" id="{B64EB88D-8322-44A6-A5CE-FE39CA24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AutoTriager</a:t>
            </a:r>
          </a:p>
        </p:txBody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CB0C4F-4F60-40FA-B82A-605E7A0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 GraphRAG for Incident Investigation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F50F9DBC-3114-4EEA-8248-02298D8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C10311D0-F191-4BE8-90CB-128ADC03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CS 5588 Challenge 3: AI Design and GraphRAG Extension</a:t>
            </a:r>
          </a:p>
        </p:txBody>
      </p:sp>
      <p:sp>
        <p:nvSpPr>
          <p:cNvPr id="5" name="bullets-4">
            <a:extLst xmlns:a="http://schemas.openxmlformats.org/drawingml/2006/main">
              <a:ext uri="{FF2B5EF4-FFF2-40B4-BE49-F238E27FC236}">
                <a16:creationId xmlns:a16="http://schemas.microsoft.com/office/drawing/2014/main" id="{B579625A-5E80-4163-AAA2-4DF02C4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7442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Users: on-call developers and site reliability engineers.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Problem: errors cross service boundaries, while system knowledge and observations remain separate.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11111"/>
                </a:solidFill>
                <a:latin typeface="Arial"/>
                <a:ea typeface="Arial"/>
                <a:cs typeface="Arial"/>
              </a:rPr>
              <a:t> Goal: retrieve relevant dependencies and source passages for an investigation that engineers can verify.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4A8D963-5952-4595-89A4-9A7989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October 13, 2026. Updates the implemented KG and adds the requested GraphRAG extension.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1F8FC55-36E5-4FAD-9B6C-448C101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8200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135D8F95-1C03-47EF-A7E9-C9B7D50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grounding and co-design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13B7FA-EB9C-460A-88C6-9254A73B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Codex agents assisted source review, schema refinement, implementation, and verification.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75D6234-0483-479E-BDF9-D860F8B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42FD7-5C79-4325-9BF9-052E84F47A8E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810000"/>
                <a:gridCol w="4352925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Primary source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Concept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Representation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OpenTelemetry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Service identity and trace context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Service, Operation, Observation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W3C PROV-O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Source evidence and derivation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Evidence, locators, content hashes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Official Shop 3.1.0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Conditional calls and configuration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CALLS, conditions, versioned passages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68DB3D7C-C9F9-44E4-935F-0C1752A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 decision: accepted</a:t>
            </a:r>
          </a:p>
        </p:txBody>
      </p:sp>
      <p:sp>
        <p:nvSpPr>
          <p:cNvPr id="6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49C57DD1-2CE7-487D-8085-DAE4E8B2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My design distinguished calls from business dependence. AI proposed separate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source, observed, and verified states. I accepted this and retained unknowns.</a:t>
            </a:r>
          </a:p>
        </p:txBody>
      </p:sp>
      <p:sp>
        <p:nvSpPr>
          <p:cNvPr id="7" name="source-link">
            <a:extLst xmlns:a="http://schemas.openxmlformats.org/drawingml/2006/main">
              <a:ext uri="{FF2B5EF4-FFF2-40B4-BE49-F238E27FC236}">
                <a16:creationId xmlns:a16="http://schemas.microsoft.com/office/drawing/2014/main" id="{E79A72B7-D9E7-4B33-AD80-DD5AD2A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aa441c2b66b949c0"/>
              </a:rPr>
              <a:t>OpenTelemetry semantic conventions</a:t>
            </a:r>
          </a:p>
        </p:txBody>
      </p:sp>
      <p:sp>
        <p:nvSpPr>
          <p:cNvPr id="8" name="source-link">
            <a:extLst xmlns:a="http://schemas.openxmlformats.org/drawingml/2006/main">
              <a:ext uri="{FF2B5EF4-FFF2-40B4-BE49-F238E27FC236}">
                <a16:creationId xmlns:a16="http://schemas.microsoft.com/office/drawing/2014/main" id="{44FFB946-05AD-49DF-854F-8F60EC3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057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b854b41d3ecd4366"/>
              </a:rPr>
              <a:t>W3C PROV-O</a:t>
            </a:r>
          </a:p>
        </p:txBody>
      </p:sp>
      <p:sp>
        <p:nvSpPr>
          <p:cNvPr id="9" name="source-link">
            <a:extLst xmlns:a="http://schemas.openxmlformats.org/drawingml/2006/main">
              <a:ext uri="{FF2B5EF4-FFF2-40B4-BE49-F238E27FC236}">
                <a16:creationId xmlns:a16="http://schemas.microsoft.com/office/drawing/2014/main" id="{216665CF-305F-4B5A-912F-43FF7D8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57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9741b1755f6c47e6"/>
              </a:rPr>
              <a:t>Pinned Shop source: dedc017</a:t>
            </a:r>
          </a:p>
        </p:txBody>
      </p:sp>
    </p:spTree>
    <p:extLst>
      <p:ext uri="{BB962C8B-B14F-4D97-AF65-F5344CB8AC3E}">
        <p14:creationId xmlns:p14="http://schemas.microsoft.com/office/powerpoint/2010/main" val="403063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F38DBC5-110A-4DBC-89BE-D76EC6E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structure and knowledge content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5A4517-C932-4971-87C2-C6F2AB9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 reusable telemetry foundation joins versioned platform knowledge and scoped observations.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02CAF81-21B5-4194-9B77-3C36D861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90390-A805-4B05-A1A3-FAD975DA7A51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9900"/>
                <a:gridCol w="3876675"/>
                <a:gridCol w="40862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Semantic types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Selected fields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Service / Operation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Component and interface ownership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name, protocol, source_version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BusinessWorkflow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Business outcome and conditions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scope, success_criterion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Incident / Observation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 bounded runtime record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time, service, trace_id, span_id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 / Chunk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Locatable source and readable passage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locator, hash, version, application_limit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nowledge-content">
            <a:extLst xmlns:a="http://schemas.openxmlformats.org/drawingml/2006/main">
              <a:ext uri="{FF2B5EF4-FFF2-40B4-BE49-F238E27FC236}">
                <a16:creationId xmlns:a16="http://schemas.microsoft.com/office/drawing/2014/main" id="{B5D05959-5176-42E3-9B1D-FBAEE16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 curated passages: 9 telemetry/provenance interpretations + 14 Shop context passages. Conditions remain with the text.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BA5585E-24EE-4E5C-9DFD-234B149C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Seven semantic types. Fourteen relationship types include HAS_CHUNK and ABOUT. Source structure is not incident causation.</a:t>
            </a:r>
          </a:p>
        </p:txBody>
      </p:sp>
    </p:spTree>
    <p:extLst>
      <p:ext uri="{BB962C8B-B14F-4D97-AF65-F5344CB8AC3E}">
        <p14:creationId xmlns:p14="http://schemas.microsoft.com/office/powerpoint/2010/main" val="949181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0829A46-D695-43DD-8E14-6EAEDCEC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Neo4j Aura implementation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463796-4291-4BE0-9130-3EE91C32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Actual Neo4j Browser connected to Aura. This focused incident view contains 9 nodes and 10 links.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E78890F-3C8E-4BA2-A3A1-DC5EE283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D23CB-AC09-470C-8376-B26366ACF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88cea515d4a4a"/>
          <a:srcRect xmlns:a="http://schemas.openxmlformats.org/drawingml/2006/main" l="12821" t="12500" r="0" b="25800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7191375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cloud-counts">
            <a:extLst xmlns:a="http://schemas.openxmlformats.org/drawingml/2006/main">
              <a:ext uri="{FF2B5EF4-FFF2-40B4-BE49-F238E27FC236}">
                <a16:creationId xmlns:a16="http://schemas.microsoft.com/office/drawing/2014/main" id="{3756EAC5-6746-42AA-AF12-39EDA42A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14500"/>
            <a:ext cx="31527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73 nodes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124 relationships</a:t>
            </a:r>
          </a:p>
        </p:txBody>
      </p:sp>
      <p:sp>
        <p:nvSpPr>
          <p:cNvPr id="6" name="bullets-4">
            <a:extLst xmlns:a="http://schemas.openxmlformats.org/drawingml/2006/main">
              <a:ext uri="{FF2B5EF4-FFF2-40B4-BE49-F238E27FC236}">
                <a16:creationId xmlns:a16="http://schemas.microsoft.com/office/drawing/2014/main" id="{8E1E68BF-C988-476E-8A00-5E7C6D5B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71800"/>
            <a:ext cx="33242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 Complete cloud graph: 7 semantic types and 14 relationship types.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 Focused view: incident, observations, and emitting services.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 23 curated passages supply additional system knowledge.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02D7801-5E30-4D86-98CA-990FB59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Screenshot: actual Aura connection, October 13. Whole-project counts come from cloud_verification.json.</a:t>
            </a:r>
          </a:p>
        </p:txBody>
      </p:sp>
    </p:spTree>
    <p:extLst>
      <p:ext uri="{BB962C8B-B14F-4D97-AF65-F5344CB8AC3E}">
        <p14:creationId xmlns:p14="http://schemas.microsoft.com/office/powerpoint/2010/main" val="699258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8590EB9-B7E3-456D-98AF-408E654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Cypher import and multi-hop retrieval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11EA9F-72C0-4E13-8025-EEB7771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Import excerpts and an executed two-hop query connect an incident to observations and emitting services.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CF4F172-D885-4F13-B5EB-36020968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import-heading">
            <a:extLst xmlns:a="http://schemas.openxmlformats.org/drawingml/2006/main">
              <a:ext uri="{FF2B5EF4-FFF2-40B4-BE49-F238E27FC236}">
                <a16:creationId xmlns:a16="http://schemas.microsoft.com/office/drawing/2014/main" id="{A76B3F8D-A801-4C80-8025-082D283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 excerpts</a:t>
            </a:r>
          </a:p>
        </p:txBody>
      </p:sp>
      <p:sp>
        <p:nvSpPr>
          <p:cNvPr id="5" name="cypher">
            <a:extLst xmlns:a="http://schemas.openxmlformats.org/drawingml/2006/main">
              <a:ext uri="{FF2B5EF4-FFF2-40B4-BE49-F238E27FC236}">
                <a16:creationId xmlns:a16="http://schemas.microsoft.com/office/drawing/2014/main" id="{F5CEB523-485D-45B2-AAD7-2E62371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28612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MERGE (n:ATKnowledge:Chunk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{graph_id:$graph,id:row.id})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SET n += 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MERGE (a)-[r:CALLS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{graph_id:$graph,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id:row.properties.id}]-&gt;(b)</a:t>
            </a:r>
          </a:p>
        </p:txBody>
      </p:sp>
      <p:sp>
        <p:nvSpPr>
          <p:cNvPr id="6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ED5FBFFA-ACBD-439C-8D0D-998454A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076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query</a:t>
            </a:r>
          </a:p>
        </p:txBody>
      </p:sp>
      <p:sp>
        <p:nvSpPr>
          <p:cNvPr id="7" name="cypher">
            <a:extLst xmlns:a="http://schemas.openxmlformats.org/drawingml/2006/main">
              <a:ext uri="{FF2B5EF4-FFF2-40B4-BE49-F238E27FC236}">
                <a16:creationId xmlns:a16="http://schemas.microsoft.com/office/drawing/2014/main" id="{C90BC53E-36B8-42AD-ADB3-5B6C986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3190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MATCH (i:Incident)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-[:HAS_OBSERVATION]-&gt;(o)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-[:EMITTED_BY]-&gt;(s)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RETURN i.id,o.id,s.name</a:t>
            </a:r>
          </a:p>
        </p:txBody>
      </p:sp>
      <p:sp>
        <p:nvSpPr>
          <p:cNvPr id="8" name="actual-query-result">
            <a:extLst xmlns:a="http://schemas.openxmlformats.org/drawingml/2006/main">
              <a:ext uri="{FF2B5EF4-FFF2-40B4-BE49-F238E27FC236}">
                <a16:creationId xmlns:a16="http://schemas.microsoft.com/office/drawing/2014/main" id="{0CD513A9-92BD-481E-8FB6-A87D4A63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240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Executed Aura query output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A0F02-8467-4F54-87EA-1FDE82CD87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65f5a03a14f54"/>
          <a:srcRect xmlns:a="http://schemas.openxmlformats.org/drawingml/2006/main" l="33476" t="24800" r="21652" b="47200"/>
          <a:stretch xmlns:a="http://schemas.openxmlformats.org/drawingml/2006/main"/>
        </p:blipFill>
        <p:spPr>
          <a:xfrm xmlns:a="http://schemas.openxmlformats.org/drawingml/2006/main">
            <a:off x="4162425" y="2238375"/>
            <a:ext cx="7381875" cy="3048000"/>
          </a:xfrm>
          <a:prstGeom xmlns:a="http://schemas.openxmlformats.org/drawingml/2006/main" prst="rect">
            <a:avLst/>
          </a:prstGeom>
        </p:spPr>
      </p:pic>
      <p:sp>
        <p:nvSpPr>
          <p:cNvPr id="10" name="query-meaning">
            <a:extLst xmlns:a="http://schemas.openxmlformats.org/drawingml/2006/main">
              <a:ext uri="{FF2B5EF4-FFF2-40B4-BE49-F238E27FC236}">
                <a16:creationId xmlns:a16="http://schemas.microsoft.com/office/drawing/2014/main" id="{8958D5C5-C54A-4EA8-9C34-66566A6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81625"/>
            <a:ext cx="7191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Five observations from incident-archive-02 map to three emitting services. Cropped result columns shown.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F693750-18C7-4FD9-8B71-9012ADB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Executed queries also filter the project namespace. Trace propagation and source calls do not prove root cause.</a:t>
            </a:r>
          </a:p>
        </p:txBody>
      </p:sp>
    </p:spTree>
    <p:extLst>
      <p:ext uri="{BB962C8B-B14F-4D97-AF65-F5344CB8AC3E}">
        <p14:creationId xmlns:p14="http://schemas.microsoft.com/office/powerpoint/2010/main" val="1806393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94DB7-E72D-40AD-8940-64EBEBAEE49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9039225" y="3028950"/>
            <a:ext cx="1547813" cy="1276350"/>
          </a:xfrm>
          <a:prstGeom xmlns:a="http://schemas.openxmlformats.org/drawingml/2006/main" prst="bentConnector5">
            <a:avLst>
              <a:gd name="adj1" fmla="val 0"/>
              <a:gd name="adj2" fmla="val 17910"/>
              <a:gd name="adj3" fmla="val 85231"/>
            </a:avLst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62693-8C60-44DA-8A22-DAAB1261281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39225" y="2533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462D7-0C07-456C-89C6-5F70CE59DB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38850" y="2533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FCA56-A70B-41D9-8785-2A0CC933FC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62275" y="2533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C8C682FB-9960-4986-BE05-B755E1A0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GraphRAG in the investigation workflow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787D50-60A7-4336-9682-D9D2F13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incident scope controls retrieval. The LLM receives a bounded evidence packet.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DC11643-B030-4A55-89AB-BF70C99C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BB141703-08F3-415B-9EBD-3E38B6E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352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Incident + question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 and services</a:t>
            </a:r>
          </a:p>
        </p:txBody>
      </p:sp>
      <p:sp>
        <p:nvSpPr>
          <p:cNvPr id="5" name="retrieve">
            <a:extLst xmlns:a="http://schemas.openxmlformats.org/drawingml/2006/main">
              <a:ext uri="{FF2B5EF4-FFF2-40B4-BE49-F238E27FC236}">
                <a16:creationId xmlns:a16="http://schemas.microsoft.com/office/drawing/2014/main" id="{D3ABF5D8-3523-41AB-9229-4F1399A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Neo4j retrieval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Paths + source chunks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553915C6-6BD7-4987-9F01-F669229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38350"/>
            <a:ext cx="2438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packet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IDs, versions, gaps</a:t>
            </a:r>
          </a:p>
        </p:txBody>
      </p:sp>
      <p:sp>
        <p:nvSpPr>
          <p:cNvPr id="7" name="llm">
            <a:extLst xmlns:a="http://schemas.openxmlformats.org/drawingml/2006/main">
              <a:ext uri="{FF2B5EF4-FFF2-40B4-BE49-F238E27FC236}">
                <a16:creationId xmlns:a16="http://schemas.microsoft.com/office/drawing/2014/main" id="{285736B0-0418-4ADB-9104-E14E8362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1971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Cited explanation</a:t>
            </a:r>
          </a:p>
        </p:txBody>
      </p:sp>
      <p:sp>
        <p:nvSpPr>
          <p:cNvPr id="11" name="human">
            <a:extLst xmlns:a="http://schemas.openxmlformats.org/drawingml/2006/main">
              <a:ext uri="{FF2B5EF4-FFF2-40B4-BE49-F238E27FC236}">
                <a16:creationId xmlns:a16="http://schemas.microsoft.com/office/drawing/2014/main" id="{464CB44D-F64B-433B-A071-4BE229E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55149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Citation checks and engineer review</a:t>
            </a:r>
          </a:p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evidence and ask a follow-up</a:t>
            </a:r>
          </a:p>
        </p:txBody>
      </p:sp>
      <p:sp>
        <p:nvSpPr>
          <p:cNvPr id="13" name="retrieval-policy">
            <a:extLst xmlns:a="http://schemas.openxmlformats.org/drawingml/2006/main">
              <a:ext uri="{FF2B5EF4-FFF2-40B4-BE49-F238E27FC236}">
                <a16:creationId xmlns:a16="http://schemas.microsoft.com/office/drawing/2014/main" id="{DE345813-3F62-4D59-A430-5C1A98A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63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snapshot: up to 48 observations. Aura: up to 10 passages using entity matching, graph traversal and lexical ranking. No embedding model.</a:t>
            </a:r>
          </a:p>
        </p:txBody>
      </p:sp>
      <p:sp>
        <p:nvSpPr>
          <p:cNvPr id="14" name="source-link">
            <a:extLst xmlns:a="http://schemas.openxmlformats.org/drawingml/2006/main">
              <a:ext uri="{FF2B5EF4-FFF2-40B4-BE49-F238E27FC236}">
                <a16:creationId xmlns:a16="http://schemas.microsoft.com/office/drawing/2014/main" id="{6EAF7B24-15FA-49B2-A0C8-A156BC8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18b9c388428e41e7"/>
              </a:rPr>
              <a:t>Neo4j GraphRAG retrieval framework</a:t>
            </a:r>
          </a:p>
        </p:txBody>
      </p:sp>
    </p:spTree>
    <p:extLst>
      <p:ext uri="{BB962C8B-B14F-4D97-AF65-F5344CB8AC3E}">
        <p14:creationId xmlns:p14="http://schemas.microsoft.com/office/powerpoint/2010/main" val="1291178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11EEFD8-F752-4008-AF93-FE03955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Incident analysis in the workbench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60566F-B2A1-442E-84E0-69D6087E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Actual workbench question: which observations justify inspecting payment next?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0A92436-4E96-499F-B505-969E6E2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FDDB1-0EBB-4C4E-8375-C0AFA352E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ffca8359f4149"/>
          <a:srcRect xmlns:a="http://schemas.openxmlformats.org/drawingml/2006/main" l="5391" t="34158" r="8356" b="42064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714750" cy="4248150"/>
          </a:xfrm>
          <a:prstGeom xmlns:a="http://schemas.openxmlformats.org/drawingml/2006/main" prst="rect">
            <a:avLst/>
          </a:prstGeom>
        </p:spPr>
      </p:pic>
      <p:sp>
        <p:nvSpPr>
          <p:cNvPr id="5" name="run-result">
            <a:extLst xmlns:a="http://schemas.openxmlformats.org/drawingml/2006/main">
              <a:ext uri="{FF2B5EF4-FFF2-40B4-BE49-F238E27FC236}">
                <a16:creationId xmlns:a16="http://schemas.microsoft.com/office/drawing/2014/main" id="{AD842224-5E21-4BD3-B46C-EBC4318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43075"/>
            <a:ext cx="66389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 3.5 Flash-Lite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8.48 s model call</a:t>
            </a:r>
          </a:p>
        </p:txBody>
      </p:sp>
      <p:sp>
        <p:nvSpPr>
          <p:cNvPr id="6" name="bullets-4">
            <a:extLst xmlns:a="http://schemas.openxmlformats.org/drawingml/2006/main">
              <a:ext uri="{FF2B5EF4-FFF2-40B4-BE49-F238E27FC236}">
                <a16:creationId xmlns:a16="http://schemas.microsoft.com/office/drawing/2014/main" id="{D030DEA8-C308-4850-A383-DEB7AB07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38450"/>
            <a:ext cx="6762750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Input: 48 observations, 10 passages, and 3 static links.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Citation IDs resolve; each claim still needs semantic review.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Review flagged a database check with no established database dependency.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Span ERROR records do not confirm the initiating cause.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0532352-0825-49E6-AB89-AB3AEC9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Five development attempts: 2 schema/reference-valid outputs, 2 citation rejections, 1 HTTP 400 response.</a:t>
            </a:r>
          </a:p>
        </p:txBody>
      </p:sp>
    </p:spTree>
    <p:extLst>
      <p:ext uri="{BB962C8B-B14F-4D97-AF65-F5344CB8AC3E}">
        <p14:creationId xmlns:p14="http://schemas.microsoft.com/office/powerpoint/2010/main" val="208351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C5327E6D-F1EA-4D80-8FE7-AE592D8C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and next experiment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E35B20-C197-4BC9-82DE-729F078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Construction and development retrieval checks verify the pipeline, not diagnostic improvement.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B82A743-42BD-4E23-8361-91FC9DC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46531-54AA-4FE0-A9A1-69FA3696D0F9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381250"/>
                <a:gridCol w="4733925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T w="5715">
                      <a:solidFill>
                        <a:srgbClr val="888888"/>
                      </a:solidFill>
                      <a:prstDash val="solid"/>
                    </a:lnT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Corpus construction + boundaries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 / 8 pass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Pinned files, anchors and negative controls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Required knowledge retrieved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 / 3 questions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All 5 selected target passages found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Diagnostic benefit</a:t>
                      </a:r>
                    </a:p>
                  </a:txBody>
                  <a:tcPr marL="114300" marR="114300" marT="95250" marB="95250">
                    <a:lnL w="5715">
                      <a:solidFill>
                        <a:srgbClr val="888888"/>
                      </a:solidFill>
                      <a:prstDash val="solid"/>
                    </a:lnL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Not measured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held-out or paired LLM comparison yet</a:t>
                      </a:r>
                    </a:p>
                  </a:txBody>
                  <a:tcPr marL="114300" marR="114300" marT="95250" marB="95250">
                    <a:lnR w="5715">
                      <a:solidFill>
                        <a:srgbClr val="888888"/>
                      </a:solidFill>
                      <a:prstDash val="solid"/>
                    </a:lnR>
                    <a:lnB w="571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B98CA600-3C74-485D-84CF-75308177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30FC84E8-534A-4BED-84BC-1440CBF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2101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inspected incident. Partial topology.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Semantic support gaps remain in model output.</a:t>
            </a:r>
          </a:p>
        </p:txBody>
      </p:sp>
      <p:sp>
        <p:nvSpPr>
          <p:cNvPr id="7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8F895C52-87C4-4F7D-9DCD-48143BC7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comparison</a:t>
            </a:r>
          </a:p>
        </p:txBody>
      </p:sp>
      <p:sp>
        <p:nvSpPr>
          <p:cNvPr id="8" name="next">
            <a:extLst xmlns:a="http://schemas.openxmlformats.org/drawingml/2006/main">
              <a:ext uri="{FF2B5EF4-FFF2-40B4-BE49-F238E27FC236}">
                <a16:creationId xmlns:a16="http://schemas.microsoft.com/office/drawing/2014/main" id="{5976941C-C7FD-40BF-AE7A-7E07A4C8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962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direct prompting, document RAG,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GraphRAG on the same model and budget.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D33A438-5161-4B9B-BA75-5216D82C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These are development checks. Valid citation IDs alone do not prove that each claim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209310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2026-10-13T05:24:30.6760000Z</dcterms:created>
  <dcterms:modified xsi:type="dcterms:W3CDTF">2026-10-13T05:24:30.6760000Z</dcterms:modified>
</coreProperties>
</file>